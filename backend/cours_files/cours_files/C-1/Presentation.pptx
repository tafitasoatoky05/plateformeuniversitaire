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déplacer la diapo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A5966B7-33A6-4343-9E05-A4903A6204C2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"Bonjour à tous. Je vais vous présenter mon projet de fin d'études intitulé : Système de surveillance et gestion intelligente des porcs via les technologies IoT. Ce projet vise à transformer l'élevage traditionnel en une exploitation connectée, durable et performante. Je suis RANDRIANIAINA Erinjanahary Tafitasoa Toki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DDF9D4-A565-4B8A-BAC2-D52D752C0C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Pour structurer mon intervention, nous suivrons ce plan en six étapes.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Nous débuterons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par la présentation du problème, 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puis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nous détaillerons l'architecture technique, les réseaux et protocoler, → la gestion des données,→  la sécurité, 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et enfin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, nous terminerons par une démonstration pratique.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04C1F4-A14E-4B35-83BB-81BD02882CB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CONTEXTE → A cause de → PROBLEME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Donc → SOLUTION Iot Proposee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ACTEURS DU SYSTEME →  peut utiliser ce projet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3B53D2-2724-4752-AEA2-D8FF578D1DF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Notre architecture repose sur cinq couches complémentaires :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La couche Perception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pour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les capteurs et les actionneurs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La couche Réseau 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pour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 la transmission des donnees LoRaWan ou Wi-Fi.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L'Edge ou (FOG) Computing </a:t>
            </a:r>
            <a:r>
              <a:rPr b="1" lang="fr-FR" sz="1300" spc="-1" strike="noStrike">
                <a:solidFill>
                  <a:srgbClr val="000000"/>
                </a:solidFill>
                <a:latin typeface="Arial"/>
              </a:rPr>
              <a:t>pour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 un traitement local rapide.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Couche Cloud : pour le stockage de donnees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La couche Application </a:t>
            </a:r>
            <a:r>
              <a:rPr b="1" lang="fr-FR" sz="1100" spc="-1" strike="noStrike">
                <a:solidFill>
                  <a:srgbClr val="000000"/>
                </a:solidFill>
                <a:latin typeface="Arial"/>
              </a:rPr>
              <a:t>pour </a:t>
            </a:r>
            <a:r>
              <a:rPr b="0" lang="fr-FR" sz="1100" spc="-1" strike="noStrike">
                <a:solidFill>
                  <a:srgbClr val="000000"/>
                </a:solidFill>
                <a:latin typeface="Arial"/>
              </a:rPr>
              <a:t>l’interface utilisateur comme le dashboard web, application mobile,...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FOG : C’est une extension de CLOUD et plus proche des utilisateurs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751FF6-6453-41DC-898A-9306838875E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300" spc="-1" strike="noStrike">
                <a:solidFill>
                  <a:srgbClr val="000000"/>
                </a:solidFill>
                <a:latin typeface="Arial"/>
              </a:rPr>
              <a:t>"Pour la connectivité, nous utilisons une approche hybride : le LoRaWAN pour sa longue portée (jusqu'à 15km) en extérieur , le Zigbee pour le maillage intérieur des bâtiments , et le Wi-Fi pour les flux de données riches. Côté protocoles, le MQTT est au cœur du système pour sa légèreté, tandis que le TLS/SSL garantit le chiffrement de tous les échanges."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A017DC-CE7C-4936-92EB-3F434EF2B94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433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433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« Les capteurs 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publient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les données via la passerelle vers le broker MQTT qui les 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reçoit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Ensuite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, les données sont stockées dans une base de données abonnée , 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puis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analysées pour être enfin affichées sur un dashboard de visualisation. »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F38BD5-DC1E-49B8-8581-EE62135A84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Nous avons identifié des menaces telles que : MENACES IDENTIFIEES,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Pour y remedier/ Donc nous appliquons les securites, par exemple sur L’OBJET IOT … , RESEAU, DONNEES, UTILISATEURS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C5719A-1255-45EF-BE8E-3D027838C6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Tous les capteurs →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envoyant des données à une gateway Raspberry Pi 4  via de reseau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Ces informations </a:t>
            </a:r>
            <a:r>
              <a:rPr b="1" lang="fr-FR" sz="1000" spc="-1" strike="noStrike">
                <a:solidFill>
                  <a:srgbClr val="000000"/>
                </a:solidFill>
                <a:latin typeface="Arial"/>
              </a:rPr>
              <a:t>transitent 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de manière sécurisée vers le serveur Cloud </a:t>
            </a:r>
            <a:r>
              <a:rPr b="1" lang="fr-FR" sz="1300" spc="-1" strike="noStrike">
                <a:solidFill>
                  <a:srgbClr val="000000"/>
                </a:solidFill>
                <a:latin typeface="Arial"/>
              </a:rPr>
              <a:t>pour alimenter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 l'interface web Flask par exemple, application Mobile,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« Les capteurs 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publient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les données via la passerelle vers le broker MQTT qui les 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reçoit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Ensuite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, les données sont stockées dans une base de données abonnée , 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puis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analysées pour être enfin affichées sur un dashboard de visualisation. »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BE7309-537E-46F3-BF06-32050AC6B3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38BD58-7718-45EF-B21F-2134A535071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En conclusion, ce système 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</a:rPr>
              <a:t>offre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 une surveillance temps réel robuste grâce à plus de differentes types de capteurs et une sécurité de pointe. L'impact attendu est clair : une réduction de la mortalité animale et une meilleure rentabilité pour nos éleveurs. Merci pour votre attention, je suis maintenant prêt pour vos questions."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94555A-9B6F-46A4-A042-DE4391EDC7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2560" cy="62640"/>
          </a:xfrm>
          <a:prstGeom prst="rect">
            <a:avLst/>
          </a:prstGeom>
          <a:solidFill>
            <a:srgbClr val="5a8f3c"/>
          </a:solidFill>
          <a:ln w="12600">
            <a:solidFill>
              <a:srgbClr val="5a8f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455760" cy="5142240"/>
          </a:xfrm>
          <a:prstGeom prst="rect">
            <a:avLst/>
          </a:prstGeom>
          <a:solidFill>
            <a:srgbClr val="2c5f2d"/>
          </a:solidFill>
          <a:ln w="126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217920" y="0"/>
            <a:ext cx="2924640" cy="5142240"/>
          </a:xfrm>
          <a:prstGeom prst="rect">
            <a:avLst/>
          </a:prstGeom>
          <a:solidFill>
            <a:srgbClr val="2c5f2d"/>
          </a:solidFill>
          <a:ln w="126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6217920" y="0"/>
            <a:ext cx="2924640" cy="5142240"/>
          </a:xfrm>
          <a:prstGeom prst="rect">
            <a:avLst/>
          </a:prstGeom>
          <a:solidFill>
            <a:srgbClr val="2c5f2d">
              <a:alpha val="70000"/>
            </a:srgbClr>
          </a:solidFill>
          <a:ln w="126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6766560" y="822960"/>
            <a:ext cx="1644480" cy="1644480"/>
          </a:xfrm>
          <a:prstGeom prst="ellipse">
            <a:avLst/>
          </a:prstGeom>
          <a:solidFill>
            <a:srgbClr val="5a8f3c">
              <a:alpha val="70000"/>
            </a:srgbClr>
          </a:solidFill>
          <a:ln w="25560">
            <a:solidFill>
              <a:srgbClr val="5a8f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766560" y="822960"/>
            <a:ext cx="164448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🐖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6492240" y="502920"/>
            <a:ext cx="2193120" cy="2193120"/>
          </a:xfrm>
          <a:prstGeom prst="ellipse">
            <a:avLst/>
          </a:prstGeom>
          <a:noFill/>
          <a:ln w="19080">
            <a:solidFill>
              <a:srgbClr val="c8a84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6217920" y="228600"/>
            <a:ext cx="2741760" cy="2741760"/>
          </a:xfrm>
          <a:prstGeom prst="ellipse">
            <a:avLst/>
          </a:prstGeom>
          <a:noFill/>
          <a:ln w="12600">
            <a:solidFill>
              <a:srgbClr val="c8a84b"/>
            </a:solidFill>
            <a:prstDash val="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6583680" y="3200400"/>
            <a:ext cx="163080" cy="163080"/>
          </a:xfrm>
          <a:prstGeom prst="ellipse">
            <a:avLst/>
          </a:prstGeom>
          <a:solidFill>
            <a:srgbClr val="c8a84b"/>
          </a:solidFill>
          <a:ln w="1260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7772400" y="2926080"/>
            <a:ext cx="163080" cy="163080"/>
          </a:xfrm>
          <a:prstGeom prst="ellipse">
            <a:avLst/>
          </a:prstGeom>
          <a:solidFill>
            <a:srgbClr val="c8a84b"/>
          </a:solidFill>
          <a:ln w="1260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8321040" y="3657600"/>
            <a:ext cx="163080" cy="163080"/>
          </a:xfrm>
          <a:prstGeom prst="ellipse">
            <a:avLst/>
          </a:prstGeom>
          <a:solidFill>
            <a:srgbClr val="c8a84b"/>
          </a:solidFill>
          <a:ln w="1260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7132320" y="3931920"/>
            <a:ext cx="163080" cy="163080"/>
          </a:xfrm>
          <a:prstGeom prst="ellipse">
            <a:avLst/>
          </a:prstGeom>
          <a:solidFill>
            <a:srgbClr val="c8a84b"/>
          </a:solidFill>
          <a:ln w="1260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6656760" y="3282480"/>
            <a:ext cx="1024200" cy="360"/>
          </a:xfrm>
          <a:prstGeom prst="line">
            <a:avLst/>
          </a:prstGeom>
          <a:ln w="12600">
            <a:solidFill>
              <a:srgbClr val="c8a84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7845480" y="3008160"/>
            <a:ext cx="411480" cy="567000"/>
          </a:xfrm>
          <a:prstGeom prst="line">
            <a:avLst/>
          </a:prstGeom>
          <a:ln w="12600">
            <a:solidFill>
              <a:srgbClr val="c8a84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594360" y="228600"/>
            <a:ext cx="5484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8a84b"/>
                </a:solidFill>
                <a:latin typeface="Calibri"/>
              </a:rPr>
              <a:t>EXAMEN IoT – | 10 Avril 2026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594360" y="777240"/>
            <a:ext cx="548496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ÉLEVAGE PORCIN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MODERNE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594360" y="2606040"/>
            <a:ext cx="53020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8f5e1"/>
                </a:solidFill>
                <a:latin typeface="Calibri"/>
              </a:rPr>
              <a:t>Solution IoT pour un élevage intelligent,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8f5e1"/>
                </a:solidFill>
                <a:latin typeface="Calibri"/>
              </a:rPr>
              <a:t>connecté et durable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0" y="4754880"/>
            <a:ext cx="9142560" cy="387360"/>
          </a:xfrm>
          <a:prstGeom prst="rect">
            <a:avLst/>
          </a:prstGeom>
          <a:solidFill>
            <a:srgbClr val="2c5f2d"/>
          </a:solidFill>
          <a:ln w="126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594360" y="4754880"/>
            <a:ext cx="8228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Système de surveillance et gestion intelligente des porcs via technologies IoT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50"/>
          <p:cNvSpPr/>
          <p:nvPr/>
        </p:nvSpPr>
        <p:spPr>
          <a:xfrm>
            <a:off x="558360" y="3686040"/>
            <a:ext cx="570492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8f5e1"/>
                </a:solidFill>
                <a:latin typeface="Calibri"/>
                <a:ea typeface="Noto Sans CJK SC"/>
              </a:rPr>
              <a:t>Présenté par : 101330 - RANDRIANIAINA Erinjanahary Tafitasoa Toki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08360" cy="5142240"/>
          </a:xfrm>
          <a:prstGeom prst="rect">
            <a:avLst/>
          </a:prstGeom>
          <a:solidFill>
            <a:srgbClr val="2c5f2d"/>
          </a:solidFill>
          <a:ln w="126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2c5f2d"/>
          </a:solidFill>
          <a:ln w="126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274320" y="0"/>
            <a:ext cx="85939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PLAN DE LA PRÉSENTATION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320040" y="914400"/>
            <a:ext cx="4159080" cy="114156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4"/>
          <p:cNvSpPr/>
          <p:nvPr/>
        </p:nvSpPr>
        <p:spPr>
          <a:xfrm>
            <a:off x="320040" y="914400"/>
            <a:ext cx="71640" cy="1141560"/>
          </a:xfrm>
          <a:prstGeom prst="rect">
            <a:avLst/>
          </a:prstGeom>
          <a:solidFill>
            <a:srgbClr val="5a8f3c"/>
          </a:solidFill>
          <a:ln w="12600">
            <a:solidFill>
              <a:srgbClr val="5a8f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457200" y="987480"/>
            <a:ext cx="547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c5f2d"/>
                </a:solidFill>
                <a:latin typeface="Calibri"/>
              </a:rPr>
              <a:t>01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502920" y="141732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b1e"/>
                </a:solidFill>
                <a:latin typeface="Calibri"/>
              </a:rPr>
              <a:t>Présentation du Problème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502920" y="171900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5e"/>
                </a:solidFill>
                <a:latin typeface="Calibri"/>
              </a:rPr>
              <a:t>Contexte, utilité et acteurs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4754880" y="914400"/>
            <a:ext cx="4159080" cy="114156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9"/>
          <p:cNvSpPr/>
          <p:nvPr/>
        </p:nvSpPr>
        <p:spPr>
          <a:xfrm>
            <a:off x="4754880" y="914400"/>
            <a:ext cx="71640" cy="1141560"/>
          </a:xfrm>
          <a:prstGeom prst="rect">
            <a:avLst/>
          </a:prstGeom>
          <a:solidFill>
            <a:srgbClr val="5a8f3c"/>
          </a:solidFill>
          <a:ln w="12600">
            <a:solidFill>
              <a:srgbClr val="5a8f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4892040" y="987480"/>
            <a:ext cx="547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c5f2d"/>
                </a:solidFill>
                <a:latin typeface="Calibri"/>
              </a:rPr>
              <a:t>02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4937760" y="141732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b1e"/>
                </a:solidFill>
                <a:latin typeface="Calibri"/>
              </a:rPr>
              <a:t>Architecture IoT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4937760" y="171900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5e"/>
                </a:solidFill>
                <a:latin typeface="Calibri"/>
              </a:rPr>
              <a:t>Couches, composants et schéma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3"/>
          <p:cNvSpPr/>
          <p:nvPr/>
        </p:nvSpPr>
        <p:spPr>
          <a:xfrm>
            <a:off x="320040" y="2240280"/>
            <a:ext cx="4159080" cy="114156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4"/>
          <p:cNvSpPr/>
          <p:nvPr/>
        </p:nvSpPr>
        <p:spPr>
          <a:xfrm>
            <a:off x="320040" y="2240280"/>
            <a:ext cx="71640" cy="1141560"/>
          </a:xfrm>
          <a:prstGeom prst="rect">
            <a:avLst/>
          </a:prstGeom>
          <a:solidFill>
            <a:srgbClr val="5a8f3c"/>
          </a:solidFill>
          <a:ln w="12600">
            <a:solidFill>
              <a:srgbClr val="5a8f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457200" y="2313360"/>
            <a:ext cx="547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c5f2d"/>
                </a:solidFill>
                <a:latin typeface="Calibri"/>
              </a:rPr>
              <a:t>03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502920" y="274320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b1e"/>
                </a:solidFill>
                <a:latin typeface="Calibri"/>
              </a:rPr>
              <a:t>Réseaux &amp; Protocoles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502920" y="304488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5e"/>
                </a:solidFill>
                <a:latin typeface="Calibri"/>
              </a:rPr>
              <a:t>Technologies de communication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8"/>
          <p:cNvSpPr/>
          <p:nvPr/>
        </p:nvSpPr>
        <p:spPr>
          <a:xfrm>
            <a:off x="4754880" y="2240280"/>
            <a:ext cx="4159080" cy="114156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9"/>
          <p:cNvSpPr/>
          <p:nvPr/>
        </p:nvSpPr>
        <p:spPr>
          <a:xfrm>
            <a:off x="4754880" y="2240280"/>
            <a:ext cx="71640" cy="1141560"/>
          </a:xfrm>
          <a:prstGeom prst="rect">
            <a:avLst/>
          </a:prstGeom>
          <a:solidFill>
            <a:srgbClr val="5a8f3c"/>
          </a:solidFill>
          <a:ln w="12600">
            <a:solidFill>
              <a:srgbClr val="5a8f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4892040" y="2313360"/>
            <a:ext cx="547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c5f2d"/>
                </a:solidFill>
                <a:latin typeface="Calibri"/>
              </a:rPr>
              <a:t>04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4937760" y="274320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b1e"/>
                </a:solidFill>
                <a:latin typeface="Calibri"/>
              </a:rPr>
              <a:t>Gestion des Données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2"/>
          <p:cNvSpPr/>
          <p:nvPr/>
        </p:nvSpPr>
        <p:spPr>
          <a:xfrm>
            <a:off x="4937760" y="304488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5e"/>
                </a:solidFill>
                <a:latin typeface="Calibri"/>
              </a:rPr>
              <a:t>Collecte, stockage, analyse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3"/>
          <p:cNvSpPr/>
          <p:nvPr/>
        </p:nvSpPr>
        <p:spPr>
          <a:xfrm>
            <a:off x="320040" y="3566160"/>
            <a:ext cx="4159080" cy="114156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24"/>
          <p:cNvSpPr/>
          <p:nvPr/>
        </p:nvSpPr>
        <p:spPr>
          <a:xfrm>
            <a:off x="320040" y="3566160"/>
            <a:ext cx="71640" cy="1141560"/>
          </a:xfrm>
          <a:prstGeom prst="rect">
            <a:avLst/>
          </a:prstGeom>
          <a:solidFill>
            <a:srgbClr val="5a8f3c"/>
          </a:solidFill>
          <a:ln w="12600">
            <a:solidFill>
              <a:srgbClr val="5a8f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25"/>
          <p:cNvSpPr/>
          <p:nvPr/>
        </p:nvSpPr>
        <p:spPr>
          <a:xfrm>
            <a:off x="457200" y="3639240"/>
            <a:ext cx="547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c5f2d"/>
                </a:solidFill>
                <a:latin typeface="Calibri"/>
              </a:rPr>
              <a:t>05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6"/>
          <p:cNvSpPr/>
          <p:nvPr/>
        </p:nvSpPr>
        <p:spPr>
          <a:xfrm>
            <a:off x="502920" y="406908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b1e"/>
                </a:solidFill>
                <a:latin typeface="Calibri"/>
              </a:rPr>
              <a:t>Sécurité IoT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7"/>
          <p:cNvSpPr/>
          <p:nvPr/>
        </p:nvSpPr>
        <p:spPr>
          <a:xfrm>
            <a:off x="502920" y="437076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5e"/>
                </a:solidFill>
                <a:latin typeface="Calibri"/>
              </a:rPr>
              <a:t>Menaces et mécanismes de protection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8"/>
          <p:cNvSpPr/>
          <p:nvPr/>
        </p:nvSpPr>
        <p:spPr>
          <a:xfrm>
            <a:off x="4754880" y="3566160"/>
            <a:ext cx="4159080" cy="114156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9"/>
          <p:cNvSpPr/>
          <p:nvPr/>
        </p:nvSpPr>
        <p:spPr>
          <a:xfrm>
            <a:off x="4754880" y="3566160"/>
            <a:ext cx="71640" cy="1141560"/>
          </a:xfrm>
          <a:prstGeom prst="rect">
            <a:avLst/>
          </a:prstGeom>
          <a:solidFill>
            <a:srgbClr val="5a8f3c"/>
          </a:solidFill>
          <a:ln w="12600">
            <a:solidFill>
              <a:srgbClr val="5a8f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30"/>
          <p:cNvSpPr/>
          <p:nvPr/>
        </p:nvSpPr>
        <p:spPr>
          <a:xfrm>
            <a:off x="4892040" y="3639240"/>
            <a:ext cx="547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c5f2d"/>
                </a:solidFill>
                <a:latin typeface="Calibri"/>
              </a:rPr>
              <a:t>06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31"/>
          <p:cNvSpPr/>
          <p:nvPr/>
        </p:nvSpPr>
        <p:spPr>
          <a:xfrm>
            <a:off x="4937760" y="406908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b1e"/>
                </a:solidFill>
                <a:latin typeface="Calibri"/>
              </a:rPr>
              <a:t>Démonstration Pratique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32"/>
          <p:cNvSpPr/>
          <p:nvPr/>
        </p:nvSpPr>
        <p:spPr>
          <a:xfrm>
            <a:off x="4937760" y="437076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5e"/>
                </a:solidFill>
                <a:latin typeface="Calibri"/>
              </a:rPr>
              <a:t>Code Python, MQTT, Dashboard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1b3a2d"/>
          </a:solidFill>
          <a:ln w="12600">
            <a:solidFill>
              <a:srgbClr val="1b3a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274320" y="0"/>
            <a:ext cx="85939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01 · PRÉSENTATION DU PROBLÈME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274320" y="822960"/>
            <a:ext cx="4021920" cy="191880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274320" y="822960"/>
            <a:ext cx="4021920" cy="382680"/>
          </a:xfrm>
          <a:prstGeom prst="rect">
            <a:avLst/>
          </a:prstGeom>
          <a:solidFill>
            <a:srgbClr val="2c5f2d"/>
          </a:solidFill>
          <a:ln w="126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320040" y="822960"/>
            <a:ext cx="39304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🌍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CONTEXTE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365760" y="1261800"/>
            <a:ext cx="383904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b1e"/>
                </a:solidFill>
                <a:latin typeface="Calibri"/>
              </a:rPr>
              <a:t>L'élevage porcin représente </a:t>
            </a:r>
            <a:r>
              <a:rPr b="1" lang="en-US" sz="1100" spc="-1" strike="noStrike">
                <a:solidFill>
                  <a:srgbClr val="2c5f2d"/>
                </a:solidFill>
                <a:latin typeface="Calibri"/>
              </a:rPr>
              <a:t>40% </a:t>
            </a:r>
            <a:r>
              <a:rPr b="0" lang="en-US" sz="1100" spc="-1" strike="noStrike">
                <a:solidFill>
                  <a:srgbClr val="1c2b1e"/>
                </a:solidFill>
                <a:latin typeface="Calibri"/>
              </a:rPr>
              <a:t>de la production mondiale de viande. À Madagascar, les élevages traditionnels souffrent de 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100" spc="-1" strike="noStrike">
                <a:solidFill>
                  <a:srgbClr val="1c2b1e"/>
                </a:solidFill>
                <a:latin typeface="Calibri"/>
              </a:rPr>
              <a:t>Maladies non détectées à temps (ex. Fièvre Aphteuse, PPA)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100" spc="-1" strike="noStrike">
                <a:solidFill>
                  <a:srgbClr val="1c2b1e"/>
                </a:solidFill>
                <a:latin typeface="Calibri"/>
              </a:rPr>
              <a:t>Alimentation &amp; hydratation mal contrôlées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100" spc="-1" strike="noStrike">
                <a:solidFill>
                  <a:srgbClr val="1c2b1e"/>
                </a:solidFill>
                <a:latin typeface="Calibri"/>
              </a:rPr>
              <a:t>Pertes économiques élevées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4572000" y="822960"/>
            <a:ext cx="4296240" cy="191880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4572000" y="822960"/>
            <a:ext cx="4296240" cy="382680"/>
          </a:xfrm>
          <a:prstGeom prst="rect">
            <a:avLst/>
          </a:prstGeom>
          <a:solidFill>
            <a:srgbClr val="e07b39"/>
          </a:solidFill>
          <a:ln w="12600">
            <a:solidFill>
              <a:srgbClr val="e07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4617720" y="822960"/>
            <a:ext cx="42048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⚠️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PROBLÈMES IDENTIFIÉS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4663440" y="1261800"/>
            <a:ext cx="411336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c2b1e"/>
                </a:solidFill>
                <a:latin typeface="Calibri"/>
              </a:rPr>
              <a:t>Absence de surveillance en temps réel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c2b1e"/>
                </a:solidFill>
                <a:latin typeface="Calibri"/>
              </a:rPr>
              <a:t>Pas d'alerte précoce sur la santé animale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c2b1e"/>
                </a:solidFill>
                <a:latin typeface="Calibri"/>
              </a:rPr>
              <a:t>Gestion manuelle inefficace (alimentation, température)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c2b1e"/>
                </a:solidFill>
                <a:latin typeface="Calibri"/>
              </a:rPr>
              <a:t>Difficulté de traçabilité et de prise de décision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274320" y="2880360"/>
            <a:ext cx="8593920" cy="1004400"/>
          </a:xfrm>
          <a:prstGeom prst="rect">
            <a:avLst/>
          </a:prstGeom>
          <a:solidFill>
            <a:srgbClr val="2c5f2d"/>
          </a:solidFill>
          <a:ln w="12600">
            <a:solidFill>
              <a:srgbClr val="2c5f2d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457200" y="2926080"/>
            <a:ext cx="3198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a84b"/>
                </a:solidFill>
                <a:latin typeface="Calibri"/>
              </a:rPr>
              <a:t>✅  </a:t>
            </a:r>
            <a:r>
              <a:rPr b="1" lang="en-US" sz="1200" spc="-1" strike="noStrike">
                <a:solidFill>
                  <a:srgbClr val="c8a84b"/>
                </a:solidFill>
                <a:latin typeface="Calibri"/>
              </a:rPr>
              <a:t>SOLUTION IoT PROPOSÉE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457200" y="3246120"/>
            <a:ext cx="83196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Un système IoT intégré permettant la surveillance continue des porcs (santé, alimentation, environnement), l'automatisation des actions correctives et la visualisation des données via un dashboard centralisé — accessible depuis n'importe où, en temps réel.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74320" y="4023360"/>
            <a:ext cx="8593920" cy="77580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457200" y="4069080"/>
            <a:ext cx="2284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c5f2d"/>
                </a:solidFill>
                <a:latin typeface="Calibri"/>
              </a:rPr>
              <a:t>👥  </a:t>
            </a:r>
            <a:r>
              <a:rPr b="1" lang="en-US" sz="1100" spc="-1" strike="noStrike">
                <a:solidFill>
                  <a:srgbClr val="2c5f2d"/>
                </a:solidFill>
                <a:latin typeface="Calibri"/>
              </a:rPr>
              <a:t>ACTEURS DU SYSTÈME 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5"/>
          <p:cNvSpPr/>
          <p:nvPr/>
        </p:nvSpPr>
        <p:spPr>
          <a:xfrm>
            <a:off x="365760" y="4370760"/>
            <a:ext cx="1553040" cy="318600"/>
          </a:xfrm>
          <a:prstGeom prst="rect">
            <a:avLst/>
          </a:prstGeom>
          <a:solidFill>
            <a:srgbClr val="e8f5e1"/>
          </a:solidFill>
          <a:ln w="9360">
            <a:solidFill>
              <a:srgbClr val="5a8f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365760" y="4370760"/>
            <a:ext cx="1553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c5f2d"/>
                </a:solidFill>
                <a:latin typeface="Calibri"/>
              </a:rPr>
              <a:t>🧑‍🌾 </a:t>
            </a:r>
            <a:r>
              <a:rPr b="1" lang="en-US" sz="950" spc="-1" strike="noStrike">
                <a:solidFill>
                  <a:srgbClr val="2c5f2d"/>
                </a:solidFill>
                <a:latin typeface="Calibri"/>
              </a:rPr>
              <a:t>Éleveur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7"/>
          <p:cNvSpPr/>
          <p:nvPr/>
        </p:nvSpPr>
        <p:spPr>
          <a:xfrm>
            <a:off x="2057400" y="4370760"/>
            <a:ext cx="1553040" cy="318600"/>
          </a:xfrm>
          <a:prstGeom prst="rect">
            <a:avLst/>
          </a:prstGeom>
          <a:solidFill>
            <a:srgbClr val="e8f5e1"/>
          </a:solidFill>
          <a:ln w="9360">
            <a:solidFill>
              <a:srgbClr val="5a8f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8"/>
          <p:cNvSpPr/>
          <p:nvPr/>
        </p:nvSpPr>
        <p:spPr>
          <a:xfrm>
            <a:off x="2057400" y="4370760"/>
            <a:ext cx="1553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c5f2d"/>
                </a:solidFill>
                <a:latin typeface="Calibri"/>
              </a:rPr>
              <a:t>👨‍⚕️ </a:t>
            </a:r>
            <a:r>
              <a:rPr b="1" lang="en-US" sz="950" spc="-1" strike="noStrike">
                <a:solidFill>
                  <a:srgbClr val="2c5f2d"/>
                </a:solidFill>
                <a:latin typeface="Calibri"/>
              </a:rPr>
              <a:t>Vétérinaire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9"/>
          <p:cNvSpPr/>
          <p:nvPr/>
        </p:nvSpPr>
        <p:spPr>
          <a:xfrm>
            <a:off x="3749040" y="4370760"/>
            <a:ext cx="1553040" cy="318600"/>
          </a:xfrm>
          <a:prstGeom prst="rect">
            <a:avLst/>
          </a:prstGeom>
          <a:solidFill>
            <a:srgbClr val="e8f5e1"/>
          </a:solidFill>
          <a:ln w="9360">
            <a:solidFill>
              <a:srgbClr val="5a8f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3749040" y="4370760"/>
            <a:ext cx="1553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c5f2d"/>
                </a:solidFill>
                <a:latin typeface="Calibri"/>
              </a:rPr>
              <a:t>📱 </a:t>
            </a:r>
            <a:r>
              <a:rPr b="1" lang="en-US" sz="950" spc="-1" strike="noStrike">
                <a:solidFill>
                  <a:srgbClr val="2c5f2d"/>
                </a:solidFill>
                <a:latin typeface="Calibri"/>
              </a:rPr>
              <a:t>Gestionnaire de ferme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1b3a2d"/>
          </a:solidFill>
          <a:ln w="12600">
            <a:solidFill>
              <a:srgbClr val="1b3a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274320" y="0"/>
            <a:ext cx="85939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02 · ARCHITECTURE DU SYSTÈME IoT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228600" y="777240"/>
            <a:ext cx="8685360" cy="71172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228600" y="777240"/>
            <a:ext cx="90000" cy="711720"/>
          </a:xfrm>
          <a:prstGeom prst="rect">
            <a:avLst/>
          </a:prstGeom>
          <a:solidFill>
            <a:srgbClr val="2e7d32"/>
          </a:solidFill>
          <a:ln w="126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411480" y="887040"/>
            <a:ext cx="492480" cy="492480"/>
          </a:xfrm>
          <a:prstGeom prst="ellipse">
            <a:avLst/>
          </a:prstGeom>
          <a:solidFill>
            <a:srgbClr val="2e7d32">
              <a:alpha val="80000"/>
            </a:srgbClr>
          </a:solidFill>
          <a:ln w="1908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411480" y="887040"/>
            <a:ext cx="49248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📡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1005840" y="831960"/>
            <a:ext cx="2741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32"/>
                </a:solidFill>
                <a:latin typeface="Calibri"/>
              </a:rPr>
              <a:t>COUCHE PERCEPTION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1005840" y="1124640"/>
            <a:ext cx="2741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Capteurs &amp; Actionneurs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3931920" y="887040"/>
            <a:ext cx="484488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Capteur Thermo-Hygromètre, Capteur de gaz électrochimique, Capteur NDIR, Capteur de température IR, Accéléromètre, Capteur de niveau Ultrason, Débitmètre à effet Hall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9"/>
          <p:cNvSpPr/>
          <p:nvPr/>
        </p:nvSpPr>
        <p:spPr>
          <a:xfrm>
            <a:off x="3840480" y="868680"/>
            <a:ext cx="360" cy="530280"/>
          </a:xfrm>
          <a:prstGeom prst="line">
            <a:avLst/>
          </a:prstGeom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4480560" y="1490400"/>
            <a:ext cx="360" cy="91440"/>
          </a:xfrm>
          <a:prstGeom prst="line">
            <a:avLst/>
          </a:prstGeom>
          <a:ln w="25560">
            <a:solidFill>
              <a:srgbClr val="5c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228600" y="1618560"/>
            <a:ext cx="8685360" cy="71172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2"/>
          <p:cNvSpPr/>
          <p:nvPr/>
        </p:nvSpPr>
        <p:spPr>
          <a:xfrm>
            <a:off x="228600" y="1618560"/>
            <a:ext cx="90000" cy="71172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13"/>
          <p:cNvSpPr/>
          <p:nvPr/>
        </p:nvSpPr>
        <p:spPr>
          <a:xfrm>
            <a:off x="411480" y="1728360"/>
            <a:ext cx="492480" cy="492480"/>
          </a:xfrm>
          <a:prstGeom prst="ellipse">
            <a:avLst/>
          </a:prstGeom>
          <a:solidFill>
            <a:srgbClr val="1565c0">
              <a:alpha val="80000"/>
            </a:srgbClr>
          </a:solidFill>
          <a:ln w="1908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411480" y="1728360"/>
            <a:ext cx="49248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🔗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1005840" y="1673280"/>
            <a:ext cx="2741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alibri"/>
              </a:rPr>
              <a:t>COUCHE RÉSEAU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1005840" y="1965960"/>
            <a:ext cx="2741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Transmission des données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3931920" y="1728360"/>
            <a:ext cx="484488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LoRa / Wi-Fi / Zigbee → Gateway Raspberry Pi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8"/>
          <p:cNvSpPr/>
          <p:nvPr/>
        </p:nvSpPr>
        <p:spPr>
          <a:xfrm>
            <a:off x="3840480" y="1709640"/>
            <a:ext cx="360" cy="530640"/>
          </a:xfrm>
          <a:prstGeom prst="line">
            <a:avLst/>
          </a:prstGeom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4480560" y="2331720"/>
            <a:ext cx="360" cy="91440"/>
          </a:xfrm>
          <a:prstGeom prst="line">
            <a:avLst/>
          </a:prstGeom>
          <a:ln w="25560">
            <a:solidFill>
              <a:srgbClr val="5c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0"/>
          <p:cNvSpPr/>
          <p:nvPr/>
        </p:nvSpPr>
        <p:spPr>
          <a:xfrm>
            <a:off x="228600" y="2459880"/>
            <a:ext cx="8685360" cy="71172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1"/>
          <p:cNvSpPr/>
          <p:nvPr/>
        </p:nvSpPr>
        <p:spPr>
          <a:xfrm>
            <a:off x="228600" y="2459880"/>
            <a:ext cx="90000" cy="711720"/>
          </a:xfrm>
          <a:prstGeom prst="rect">
            <a:avLst/>
          </a:prstGeom>
          <a:solidFill>
            <a:srgbClr val="6a1b9a"/>
          </a:solidFill>
          <a:ln w="126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22"/>
          <p:cNvSpPr/>
          <p:nvPr/>
        </p:nvSpPr>
        <p:spPr>
          <a:xfrm>
            <a:off x="411480" y="2569320"/>
            <a:ext cx="492480" cy="492480"/>
          </a:xfrm>
          <a:prstGeom prst="ellipse">
            <a:avLst/>
          </a:prstGeom>
          <a:solidFill>
            <a:srgbClr val="6a1b9a">
              <a:alpha val="80000"/>
            </a:srgbClr>
          </a:solidFill>
          <a:ln w="1908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23"/>
          <p:cNvSpPr/>
          <p:nvPr/>
        </p:nvSpPr>
        <p:spPr>
          <a:xfrm>
            <a:off x="411480" y="2569320"/>
            <a:ext cx="49248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⚡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4"/>
          <p:cNvSpPr/>
          <p:nvPr/>
        </p:nvSpPr>
        <p:spPr>
          <a:xfrm>
            <a:off x="1005840" y="2514600"/>
            <a:ext cx="2741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a1b9a"/>
                </a:solidFill>
                <a:latin typeface="Calibri"/>
              </a:rPr>
              <a:t>EDGE / FOG COMPUTING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1005840" y="2807280"/>
            <a:ext cx="2741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Traitement local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6"/>
          <p:cNvSpPr/>
          <p:nvPr/>
        </p:nvSpPr>
        <p:spPr>
          <a:xfrm>
            <a:off x="3931920" y="2569320"/>
            <a:ext cx="484488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Pré-filtrage | Détection d'anomalies locales | MQTT Broker local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7"/>
          <p:cNvSpPr/>
          <p:nvPr/>
        </p:nvSpPr>
        <p:spPr>
          <a:xfrm>
            <a:off x="3840480" y="2550960"/>
            <a:ext cx="360" cy="530280"/>
          </a:xfrm>
          <a:prstGeom prst="line">
            <a:avLst/>
          </a:prstGeom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8"/>
          <p:cNvSpPr/>
          <p:nvPr/>
        </p:nvSpPr>
        <p:spPr>
          <a:xfrm>
            <a:off x="4480560" y="3172680"/>
            <a:ext cx="360" cy="91440"/>
          </a:xfrm>
          <a:prstGeom prst="line">
            <a:avLst/>
          </a:prstGeom>
          <a:ln w="25560">
            <a:solidFill>
              <a:srgbClr val="5c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9"/>
          <p:cNvSpPr/>
          <p:nvPr/>
        </p:nvSpPr>
        <p:spPr>
          <a:xfrm>
            <a:off x="228600" y="3300840"/>
            <a:ext cx="8685360" cy="71172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0"/>
          <p:cNvSpPr/>
          <p:nvPr/>
        </p:nvSpPr>
        <p:spPr>
          <a:xfrm>
            <a:off x="228600" y="3300840"/>
            <a:ext cx="90000" cy="711720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31"/>
          <p:cNvSpPr/>
          <p:nvPr/>
        </p:nvSpPr>
        <p:spPr>
          <a:xfrm>
            <a:off x="411480" y="3410640"/>
            <a:ext cx="492480" cy="492480"/>
          </a:xfrm>
          <a:prstGeom prst="ellipse">
            <a:avLst/>
          </a:prstGeom>
          <a:solidFill>
            <a:srgbClr val="00695c">
              <a:alpha val="80000"/>
            </a:srgbClr>
          </a:solidFill>
          <a:ln w="1908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32"/>
          <p:cNvSpPr/>
          <p:nvPr/>
        </p:nvSpPr>
        <p:spPr>
          <a:xfrm>
            <a:off x="411480" y="3410640"/>
            <a:ext cx="49248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☁️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33"/>
          <p:cNvSpPr/>
          <p:nvPr/>
        </p:nvSpPr>
        <p:spPr>
          <a:xfrm>
            <a:off x="1005840" y="3355920"/>
            <a:ext cx="2741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695c"/>
                </a:solidFill>
                <a:latin typeface="Calibri"/>
              </a:rPr>
              <a:t>COUCHE CLOUD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4"/>
          <p:cNvSpPr/>
          <p:nvPr/>
        </p:nvSpPr>
        <p:spPr>
          <a:xfrm>
            <a:off x="1005840" y="3648600"/>
            <a:ext cx="2741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Serveur &amp; Stockage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5"/>
          <p:cNvSpPr/>
          <p:nvPr/>
        </p:nvSpPr>
        <p:spPr>
          <a:xfrm>
            <a:off x="3931920" y="3410640"/>
            <a:ext cx="484488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Base de données SQLite / InfluxDB | API REST | Alertes email/SMS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36"/>
          <p:cNvSpPr/>
          <p:nvPr/>
        </p:nvSpPr>
        <p:spPr>
          <a:xfrm>
            <a:off x="3840480" y="3392280"/>
            <a:ext cx="360" cy="530280"/>
          </a:xfrm>
          <a:prstGeom prst="line">
            <a:avLst/>
          </a:prstGeom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37"/>
          <p:cNvSpPr/>
          <p:nvPr/>
        </p:nvSpPr>
        <p:spPr>
          <a:xfrm>
            <a:off x="4480560" y="4014000"/>
            <a:ext cx="360" cy="91440"/>
          </a:xfrm>
          <a:prstGeom prst="line">
            <a:avLst/>
          </a:prstGeom>
          <a:ln w="25560">
            <a:solidFill>
              <a:srgbClr val="5c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38"/>
          <p:cNvSpPr/>
          <p:nvPr/>
        </p:nvSpPr>
        <p:spPr>
          <a:xfrm>
            <a:off x="228600" y="4142160"/>
            <a:ext cx="8685360" cy="71172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9"/>
          <p:cNvSpPr/>
          <p:nvPr/>
        </p:nvSpPr>
        <p:spPr>
          <a:xfrm>
            <a:off x="228600" y="4142160"/>
            <a:ext cx="90000" cy="711720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40"/>
          <p:cNvSpPr/>
          <p:nvPr/>
        </p:nvSpPr>
        <p:spPr>
          <a:xfrm>
            <a:off x="411480" y="4251960"/>
            <a:ext cx="492480" cy="492480"/>
          </a:xfrm>
          <a:prstGeom prst="ellipse">
            <a:avLst/>
          </a:prstGeom>
          <a:solidFill>
            <a:srgbClr val="e65100">
              <a:alpha val="80000"/>
            </a:srgbClr>
          </a:solidFill>
          <a:ln w="1908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41"/>
          <p:cNvSpPr/>
          <p:nvPr/>
        </p:nvSpPr>
        <p:spPr>
          <a:xfrm>
            <a:off x="411480" y="4251960"/>
            <a:ext cx="49248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2"/>
          <p:cNvSpPr/>
          <p:nvPr/>
        </p:nvSpPr>
        <p:spPr>
          <a:xfrm>
            <a:off x="1005840" y="4197240"/>
            <a:ext cx="2741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65100"/>
                </a:solidFill>
                <a:latin typeface="Calibri"/>
              </a:rPr>
              <a:t>COUCHE APPLICATION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43"/>
          <p:cNvSpPr/>
          <p:nvPr/>
        </p:nvSpPr>
        <p:spPr>
          <a:xfrm>
            <a:off x="1005840" y="4489560"/>
            <a:ext cx="2741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Interface utilisateur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44"/>
          <p:cNvSpPr/>
          <p:nvPr/>
        </p:nvSpPr>
        <p:spPr>
          <a:xfrm>
            <a:off x="3931920" y="4251960"/>
            <a:ext cx="484488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Dashboard Web | Application mobile | Rapports automatiques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45"/>
          <p:cNvSpPr/>
          <p:nvPr/>
        </p:nvSpPr>
        <p:spPr>
          <a:xfrm>
            <a:off x="3840480" y="4233600"/>
            <a:ext cx="360" cy="530280"/>
          </a:xfrm>
          <a:prstGeom prst="line">
            <a:avLst/>
          </a:prstGeom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1b3a2d"/>
          </a:solidFill>
          <a:ln w="12600">
            <a:solidFill>
              <a:srgbClr val="1b3a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274320" y="0"/>
            <a:ext cx="85939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03 · RÉSEAUX &amp; PROTOCOLES IoT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274320" y="777240"/>
            <a:ext cx="85939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</a:rPr>
              <a:t>Technologies de Communication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3"/>
          <p:cNvSpPr/>
          <p:nvPr/>
        </p:nvSpPr>
        <p:spPr>
          <a:xfrm>
            <a:off x="228600" y="1188720"/>
            <a:ext cx="4204800" cy="107748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228600" y="1188720"/>
            <a:ext cx="4204800" cy="31860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338400" y="1188720"/>
            <a:ext cx="3930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📡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LoRaWAN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338400" y="1554480"/>
            <a:ext cx="3930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b1e"/>
                </a:solidFill>
                <a:latin typeface="Calibri"/>
              </a:rPr>
              <a:t>Capteurs terrain (longue portée, faible consommation)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338400" y="1874520"/>
            <a:ext cx="39304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→ </a:t>
            </a: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Portée 5-15km, batterie longue durée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8"/>
          <p:cNvSpPr/>
          <p:nvPr/>
        </p:nvSpPr>
        <p:spPr>
          <a:xfrm>
            <a:off x="4709160" y="1188720"/>
            <a:ext cx="4204800" cy="107748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9"/>
          <p:cNvSpPr/>
          <p:nvPr/>
        </p:nvSpPr>
        <p:spPr>
          <a:xfrm>
            <a:off x="4709160" y="1188720"/>
            <a:ext cx="4204800" cy="318600"/>
          </a:xfrm>
          <a:prstGeom prst="rect">
            <a:avLst/>
          </a:prstGeom>
          <a:solidFill>
            <a:srgbClr val="2e7d32"/>
          </a:solidFill>
          <a:ln w="126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0"/>
          <p:cNvSpPr/>
          <p:nvPr/>
        </p:nvSpPr>
        <p:spPr>
          <a:xfrm>
            <a:off x="4818960" y="1188720"/>
            <a:ext cx="3930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📶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Wi-Fi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1"/>
          <p:cNvSpPr/>
          <p:nvPr/>
        </p:nvSpPr>
        <p:spPr>
          <a:xfrm>
            <a:off x="4818960" y="1554480"/>
            <a:ext cx="3930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b1e"/>
                </a:solidFill>
                <a:latin typeface="Calibri"/>
              </a:rPr>
              <a:t>Gateway, caméras IP, équipements fixes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4818960" y="1874520"/>
            <a:ext cx="39304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→ </a:t>
            </a: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Haut débit pour flux vidéo &amp; données riches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3"/>
          <p:cNvSpPr/>
          <p:nvPr/>
        </p:nvSpPr>
        <p:spPr>
          <a:xfrm>
            <a:off x="228600" y="2351160"/>
            <a:ext cx="4204800" cy="107748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4"/>
          <p:cNvSpPr/>
          <p:nvPr/>
        </p:nvSpPr>
        <p:spPr>
          <a:xfrm>
            <a:off x="228600" y="2351160"/>
            <a:ext cx="4204800" cy="318600"/>
          </a:xfrm>
          <a:prstGeom prst="rect">
            <a:avLst/>
          </a:prstGeom>
          <a:solidFill>
            <a:srgbClr val="6a1b9a"/>
          </a:solidFill>
          <a:ln w="126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5"/>
          <p:cNvSpPr/>
          <p:nvPr/>
        </p:nvSpPr>
        <p:spPr>
          <a:xfrm>
            <a:off x="338400" y="2351160"/>
            <a:ext cx="3930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🔵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Zigbee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6"/>
          <p:cNvSpPr/>
          <p:nvPr/>
        </p:nvSpPr>
        <p:spPr>
          <a:xfrm>
            <a:off x="338400" y="2680920"/>
            <a:ext cx="3930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b1e"/>
                </a:solidFill>
                <a:latin typeface="Calibri"/>
              </a:rPr>
              <a:t>Capteurs intérieurs (température, CO₂)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7"/>
          <p:cNvSpPr/>
          <p:nvPr/>
        </p:nvSpPr>
        <p:spPr>
          <a:xfrm>
            <a:off x="338400" y="3000960"/>
            <a:ext cx="39304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→ </a:t>
            </a: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Maillage réseau, faible consommation locale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8"/>
          <p:cNvSpPr/>
          <p:nvPr/>
        </p:nvSpPr>
        <p:spPr>
          <a:xfrm>
            <a:off x="4709160" y="2351160"/>
            <a:ext cx="4204800" cy="107748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9"/>
          <p:cNvSpPr/>
          <p:nvPr/>
        </p:nvSpPr>
        <p:spPr>
          <a:xfrm>
            <a:off x="4709160" y="2351160"/>
            <a:ext cx="4204800" cy="318600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20"/>
          <p:cNvSpPr/>
          <p:nvPr/>
        </p:nvSpPr>
        <p:spPr>
          <a:xfrm>
            <a:off x="4818960" y="2315160"/>
            <a:ext cx="3930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📱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4G/LTE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1"/>
          <p:cNvSpPr/>
          <p:nvPr/>
        </p:nvSpPr>
        <p:spPr>
          <a:xfrm>
            <a:off x="4818960" y="2788920"/>
            <a:ext cx="3930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b1e"/>
                </a:solidFill>
                <a:latin typeface="Calibri"/>
              </a:rPr>
              <a:t>Connexion cloud depuis site isolé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2"/>
          <p:cNvSpPr/>
          <p:nvPr/>
        </p:nvSpPr>
        <p:spPr>
          <a:xfrm>
            <a:off x="4818960" y="3036960"/>
            <a:ext cx="39304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→ </a:t>
            </a:r>
            <a:r>
              <a:rPr b="0" i="1" lang="en-US" sz="950" spc="-1" strike="noStrike">
                <a:solidFill>
                  <a:srgbClr val="5c7a5e"/>
                </a:solidFill>
                <a:latin typeface="Calibri"/>
              </a:rPr>
              <a:t>Connectivité cellulaire de secours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3"/>
          <p:cNvSpPr/>
          <p:nvPr/>
        </p:nvSpPr>
        <p:spPr>
          <a:xfrm>
            <a:off x="274320" y="3497040"/>
            <a:ext cx="85939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c5f2d"/>
                </a:solidFill>
                <a:latin typeface="Calibri"/>
              </a:rPr>
              <a:t>Protocoles IoT utilisés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4" name="Table 0"/>
          <p:cNvGraphicFramePr/>
          <p:nvPr/>
        </p:nvGraphicFramePr>
        <p:xfrm>
          <a:off x="156600" y="3780000"/>
          <a:ext cx="8843040" cy="1259640"/>
        </p:xfrm>
        <a:graphic>
          <a:graphicData uri="http://schemas.openxmlformats.org/drawingml/2006/table">
            <a:tbl>
              <a:tblPr/>
              <a:tblGrid>
                <a:gridCol w="2947680"/>
                <a:gridCol w="2307600"/>
                <a:gridCol w="3588120"/>
              </a:tblGrid>
              <a:tr h="251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Protocole</a:t>
                      </a:r>
                      <a:endParaRPr b="0" lang="fr-FR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Couche</a:t>
                      </a:r>
                      <a:endParaRPr b="0" lang="fr-FR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Rôle dans le système</a:t>
                      </a:r>
                      <a:endParaRPr b="0" lang="fr-FR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2c5f2d"/>
                    </a:solidFill>
                  </a:tcPr>
                </a:tc>
              </a:tr>
              <a:tr h="2552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c2b1e"/>
                          </a:solidFill>
                          <a:latin typeface="Calibri"/>
                        </a:rPr>
                        <a:t>MQTT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c2b1e"/>
                          </a:solidFill>
                          <a:latin typeface="Calibri"/>
                        </a:rPr>
                        <a:t>Transport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c2b1e"/>
                          </a:solidFill>
                          <a:latin typeface="Calibri"/>
                        </a:rPr>
                        <a:t>Communication capteurs → broker → cloud (léger, pub/sub)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1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c2b1e"/>
                          </a:solidFill>
                          <a:latin typeface="Calibri"/>
                        </a:rPr>
                        <a:t>CoAP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c2b1e"/>
                          </a:solidFill>
                          <a:latin typeface="Calibri"/>
                        </a:rPr>
                        <a:t>Application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c2b1e"/>
                          </a:solidFill>
                          <a:latin typeface="Calibri"/>
                        </a:rPr>
                        <a:t>Communication contrainte entre objets IoT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1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c2b1e"/>
                          </a:solidFill>
                          <a:latin typeface="Calibri"/>
                        </a:rPr>
                        <a:t>HTTP/REST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c2b1e"/>
                          </a:solidFill>
                          <a:latin typeface="Calibri"/>
                        </a:rPr>
                        <a:t>Application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c2b1e"/>
                          </a:solidFill>
                          <a:latin typeface="Calibri"/>
                        </a:rPr>
                        <a:t>API cloud, dashboard web, intégration externe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c2b1e"/>
                          </a:solidFill>
                          <a:latin typeface="Calibri"/>
                        </a:rPr>
                        <a:t>TLS/SSL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c2b1e"/>
                          </a:solidFill>
                          <a:latin typeface="Calibri"/>
                        </a:rPr>
                        <a:t>Sécurité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c2b1e"/>
                          </a:solidFill>
                          <a:latin typeface="Calibri"/>
                        </a:rPr>
                        <a:t>Chiffrement de toutes les communications réseau</a:t>
                      </a:r>
                      <a:endParaRPr b="0" lang="fr-FR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0e0e0"/>
                      </a:solidFill>
                      <a:prstDash val="solid"/>
                    </a:lnL>
                    <a:lnR w="6480">
                      <a:solidFill>
                        <a:srgbClr val="e0e0e0"/>
                      </a:solidFill>
                      <a:prstDash val="solid"/>
                    </a:lnR>
                    <a:lnT w="6480">
                      <a:solidFill>
                        <a:srgbClr val="e0e0e0"/>
                      </a:solidFill>
                      <a:prstDash val="solid"/>
                    </a:lnT>
                    <a:lnB w="648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1b3a2d"/>
          </a:solidFill>
          <a:ln w="12600">
            <a:solidFill>
              <a:srgbClr val="1b3a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274320" y="0"/>
            <a:ext cx="85939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04 · GESTION, TRAITEMENT &amp; ANALYSE DES DONNÉES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201240" y="777240"/>
            <a:ext cx="1324440" cy="1415880"/>
          </a:xfrm>
          <a:prstGeom prst="rect">
            <a:avLst/>
          </a:prstGeom>
          <a:solidFill>
            <a:srgbClr val="2e7d32"/>
          </a:solidFill>
          <a:ln w="12600">
            <a:solidFill>
              <a:srgbClr val="2e7d32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201240" y="822960"/>
            <a:ext cx="1324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📡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201240" y="1371600"/>
            <a:ext cx="13244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CAPTEURS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201240" y="1874520"/>
            <a:ext cx="13244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e8f5e1"/>
                </a:solidFill>
                <a:latin typeface="Calibri"/>
              </a:rPr>
              <a:t>Collecte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1526760" y="1481040"/>
            <a:ext cx="155520" cy="360"/>
          </a:xfrm>
          <a:prstGeom prst="line">
            <a:avLst/>
          </a:prstGeom>
          <a:ln w="25560">
            <a:solidFill>
              <a:srgbClr val="5c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7"/>
          <p:cNvSpPr/>
          <p:nvPr/>
        </p:nvSpPr>
        <p:spPr>
          <a:xfrm>
            <a:off x="1682640" y="777240"/>
            <a:ext cx="1324440" cy="141588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1682640" y="822960"/>
            <a:ext cx="1324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🔗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1682640" y="1371600"/>
            <a:ext cx="13244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GATEWAY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1682640" y="1874520"/>
            <a:ext cx="13244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e8f5e1"/>
                </a:solidFill>
                <a:latin typeface="Calibri"/>
              </a:rPr>
              <a:t>Transmission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1"/>
          <p:cNvSpPr/>
          <p:nvPr/>
        </p:nvSpPr>
        <p:spPr>
          <a:xfrm>
            <a:off x="3008160" y="1481040"/>
            <a:ext cx="155520" cy="360"/>
          </a:xfrm>
          <a:prstGeom prst="line">
            <a:avLst/>
          </a:prstGeom>
          <a:ln w="25560">
            <a:solidFill>
              <a:srgbClr val="5c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2"/>
          <p:cNvSpPr/>
          <p:nvPr/>
        </p:nvSpPr>
        <p:spPr>
          <a:xfrm>
            <a:off x="3163680" y="777240"/>
            <a:ext cx="1324440" cy="1415880"/>
          </a:xfrm>
          <a:prstGeom prst="rect">
            <a:avLst/>
          </a:prstGeom>
          <a:solidFill>
            <a:srgbClr val="6a1b9a"/>
          </a:solidFill>
          <a:ln w="12600">
            <a:solidFill>
              <a:srgbClr val="6a1b9a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3163680" y="822960"/>
            <a:ext cx="1324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⚡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4"/>
          <p:cNvSpPr/>
          <p:nvPr/>
        </p:nvSpPr>
        <p:spPr>
          <a:xfrm>
            <a:off x="3163680" y="1371600"/>
            <a:ext cx="13244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BROKER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MQTT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5"/>
          <p:cNvSpPr/>
          <p:nvPr/>
        </p:nvSpPr>
        <p:spPr>
          <a:xfrm>
            <a:off x="3163680" y="1874520"/>
            <a:ext cx="13244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e8f5e1"/>
                </a:solidFill>
                <a:latin typeface="Calibri"/>
              </a:rPr>
              <a:t>Routage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6"/>
          <p:cNvSpPr/>
          <p:nvPr/>
        </p:nvSpPr>
        <p:spPr>
          <a:xfrm>
            <a:off x="4489560" y="1481040"/>
            <a:ext cx="155520" cy="360"/>
          </a:xfrm>
          <a:prstGeom prst="line">
            <a:avLst/>
          </a:prstGeom>
          <a:ln w="25560">
            <a:solidFill>
              <a:srgbClr val="5c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7"/>
          <p:cNvSpPr/>
          <p:nvPr/>
        </p:nvSpPr>
        <p:spPr>
          <a:xfrm>
            <a:off x="4645080" y="777240"/>
            <a:ext cx="1324440" cy="1415880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8"/>
          <p:cNvSpPr/>
          <p:nvPr/>
        </p:nvSpPr>
        <p:spPr>
          <a:xfrm>
            <a:off x="4645080" y="822960"/>
            <a:ext cx="1324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🗄️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9"/>
          <p:cNvSpPr/>
          <p:nvPr/>
        </p:nvSpPr>
        <p:spPr>
          <a:xfrm>
            <a:off x="4645080" y="1371600"/>
            <a:ext cx="13244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BASE DE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DONNÉES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20"/>
          <p:cNvSpPr/>
          <p:nvPr/>
        </p:nvSpPr>
        <p:spPr>
          <a:xfrm>
            <a:off x="4645080" y="1874520"/>
            <a:ext cx="13244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e8f5e1"/>
                </a:solidFill>
                <a:latin typeface="Calibri"/>
              </a:rPr>
              <a:t>Stockage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1"/>
          <p:cNvSpPr/>
          <p:nvPr/>
        </p:nvSpPr>
        <p:spPr>
          <a:xfrm>
            <a:off x="5970960" y="1481040"/>
            <a:ext cx="155520" cy="360"/>
          </a:xfrm>
          <a:prstGeom prst="line">
            <a:avLst/>
          </a:prstGeom>
          <a:ln w="25560">
            <a:solidFill>
              <a:srgbClr val="5c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2"/>
          <p:cNvSpPr/>
          <p:nvPr/>
        </p:nvSpPr>
        <p:spPr>
          <a:xfrm>
            <a:off x="6126480" y="777240"/>
            <a:ext cx="1324440" cy="1415880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3"/>
          <p:cNvSpPr/>
          <p:nvPr/>
        </p:nvSpPr>
        <p:spPr>
          <a:xfrm>
            <a:off x="6126480" y="822960"/>
            <a:ext cx="1324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📈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4"/>
          <p:cNvSpPr/>
          <p:nvPr/>
        </p:nvSpPr>
        <p:spPr>
          <a:xfrm>
            <a:off x="6126480" y="1371600"/>
            <a:ext cx="13244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ANALYSE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5"/>
          <p:cNvSpPr/>
          <p:nvPr/>
        </p:nvSpPr>
        <p:spPr>
          <a:xfrm>
            <a:off x="6126480" y="1874520"/>
            <a:ext cx="13244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e8f5e1"/>
                </a:solidFill>
                <a:latin typeface="Calibri"/>
              </a:rPr>
              <a:t>Traitement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6"/>
          <p:cNvSpPr/>
          <p:nvPr/>
        </p:nvSpPr>
        <p:spPr>
          <a:xfrm>
            <a:off x="7452360" y="1481040"/>
            <a:ext cx="155160" cy="360"/>
          </a:xfrm>
          <a:prstGeom prst="line">
            <a:avLst/>
          </a:prstGeom>
          <a:ln w="25560">
            <a:solidFill>
              <a:srgbClr val="5c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27"/>
          <p:cNvSpPr/>
          <p:nvPr/>
        </p:nvSpPr>
        <p:spPr>
          <a:xfrm>
            <a:off x="7607880" y="777240"/>
            <a:ext cx="1324440" cy="1415880"/>
          </a:xfrm>
          <a:prstGeom prst="rect">
            <a:avLst/>
          </a:prstGeom>
          <a:solidFill>
            <a:srgbClr val="ad1457"/>
          </a:solidFill>
          <a:ln w="12600">
            <a:solidFill>
              <a:srgbClr val="ad1457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28"/>
          <p:cNvSpPr/>
          <p:nvPr/>
        </p:nvSpPr>
        <p:spPr>
          <a:xfrm>
            <a:off x="7607880" y="822960"/>
            <a:ext cx="1324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9"/>
          <p:cNvSpPr/>
          <p:nvPr/>
        </p:nvSpPr>
        <p:spPr>
          <a:xfrm>
            <a:off x="7607880" y="1371600"/>
            <a:ext cx="13244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DASHBOARD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30"/>
          <p:cNvSpPr/>
          <p:nvPr/>
        </p:nvSpPr>
        <p:spPr>
          <a:xfrm>
            <a:off x="7607880" y="1874520"/>
            <a:ext cx="13244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e8f5e1"/>
                </a:solidFill>
                <a:latin typeface="Calibri"/>
              </a:rPr>
              <a:t>Visualisation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31"/>
          <p:cNvSpPr/>
          <p:nvPr/>
        </p:nvSpPr>
        <p:spPr>
          <a:xfrm>
            <a:off x="228600" y="2377440"/>
            <a:ext cx="2787480" cy="255888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32"/>
          <p:cNvSpPr/>
          <p:nvPr/>
        </p:nvSpPr>
        <p:spPr>
          <a:xfrm>
            <a:off x="228600" y="2377440"/>
            <a:ext cx="2787480" cy="38268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33"/>
          <p:cNvSpPr/>
          <p:nvPr/>
        </p:nvSpPr>
        <p:spPr>
          <a:xfrm>
            <a:off x="320040" y="2377440"/>
            <a:ext cx="26503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📊 </a:t>
            </a: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Statistiques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34"/>
          <p:cNvSpPr/>
          <p:nvPr/>
        </p:nvSpPr>
        <p:spPr>
          <a:xfrm>
            <a:off x="320040" y="2834640"/>
            <a:ext cx="260460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Moyennes T°, humidité par heure/jour/semaine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35"/>
          <p:cNvSpPr/>
          <p:nvPr/>
        </p:nvSpPr>
        <p:spPr>
          <a:xfrm>
            <a:off x="320040" y="3474720"/>
            <a:ext cx="260460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Tendances de croissance poids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36"/>
          <p:cNvSpPr/>
          <p:nvPr/>
        </p:nvSpPr>
        <p:spPr>
          <a:xfrm>
            <a:off x="320040" y="4114800"/>
            <a:ext cx="260460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Taux de mortalité par période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37"/>
          <p:cNvSpPr/>
          <p:nvPr/>
        </p:nvSpPr>
        <p:spPr>
          <a:xfrm>
            <a:off x="3154680" y="2377440"/>
            <a:ext cx="2787480" cy="255888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38"/>
          <p:cNvSpPr/>
          <p:nvPr/>
        </p:nvSpPr>
        <p:spPr>
          <a:xfrm>
            <a:off x="3154680" y="2377440"/>
            <a:ext cx="2787480" cy="382680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39"/>
          <p:cNvSpPr/>
          <p:nvPr/>
        </p:nvSpPr>
        <p:spPr>
          <a:xfrm>
            <a:off x="3246120" y="2377440"/>
            <a:ext cx="26503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🚨 </a:t>
            </a: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Détection d'anomalies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40"/>
          <p:cNvSpPr/>
          <p:nvPr/>
        </p:nvSpPr>
        <p:spPr>
          <a:xfrm>
            <a:off x="3246120" y="2834640"/>
            <a:ext cx="260460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Température &gt; 38.5°C → fièvre détectée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41"/>
          <p:cNvSpPr/>
          <p:nvPr/>
        </p:nvSpPr>
        <p:spPr>
          <a:xfrm>
            <a:off x="3246120" y="3474720"/>
            <a:ext cx="260460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Consommation eau anormale → alerte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42"/>
          <p:cNvSpPr/>
          <p:nvPr/>
        </p:nvSpPr>
        <p:spPr>
          <a:xfrm>
            <a:off x="3246120" y="4114800"/>
            <a:ext cx="260460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Algorithme de seuil adaptatif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43"/>
          <p:cNvSpPr/>
          <p:nvPr/>
        </p:nvSpPr>
        <p:spPr>
          <a:xfrm>
            <a:off x="6080760" y="2377440"/>
            <a:ext cx="2787480" cy="255888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44"/>
          <p:cNvSpPr/>
          <p:nvPr/>
        </p:nvSpPr>
        <p:spPr>
          <a:xfrm>
            <a:off x="6080760" y="2377440"/>
            <a:ext cx="2787480" cy="382680"/>
          </a:xfrm>
          <a:prstGeom prst="rect">
            <a:avLst/>
          </a:prstGeom>
          <a:solidFill>
            <a:srgbClr val="2e7d32"/>
          </a:solidFill>
          <a:ln w="126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45"/>
          <p:cNvSpPr/>
          <p:nvPr/>
        </p:nvSpPr>
        <p:spPr>
          <a:xfrm>
            <a:off x="6172200" y="2377440"/>
            <a:ext cx="26503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📱 </a:t>
            </a: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Actions utilisateurs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46"/>
          <p:cNvSpPr/>
          <p:nvPr/>
        </p:nvSpPr>
        <p:spPr>
          <a:xfrm>
            <a:off x="6172200" y="2834640"/>
            <a:ext cx="260460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Dashboard temps réel (Grafana)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47"/>
          <p:cNvSpPr/>
          <p:nvPr/>
        </p:nvSpPr>
        <p:spPr>
          <a:xfrm>
            <a:off x="6172200" y="3474720"/>
            <a:ext cx="260460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Alertes SMS / Email automatiques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48"/>
          <p:cNvSpPr/>
          <p:nvPr/>
        </p:nvSpPr>
        <p:spPr>
          <a:xfrm>
            <a:off x="6172200" y="4114800"/>
            <a:ext cx="260460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Décision automatique (vanne, ventilateur)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0"/>
          <p:cNvSpPr/>
          <p:nvPr/>
        </p:nvSpPr>
        <p:spPr>
          <a:xfrm>
            <a:off x="0" y="0"/>
            <a:ext cx="9142560" cy="684360"/>
          </a:xfrm>
          <a:prstGeom prst="rect">
            <a:avLst/>
          </a:prstGeom>
          <a:solidFill>
            <a:srgbClr val="1b3a2d"/>
          </a:solidFill>
          <a:ln w="12600">
            <a:solidFill>
              <a:srgbClr val="1b3a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274320" y="0"/>
            <a:ext cx="85939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05 · SÉCURITÉ IoT AVANCÉE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228600" y="777240"/>
            <a:ext cx="3198960" cy="415908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228600" y="777240"/>
            <a:ext cx="3198960" cy="410040"/>
          </a:xfrm>
          <a:prstGeom prst="rect">
            <a:avLst/>
          </a:prstGeom>
          <a:solidFill>
            <a:srgbClr val="e07b39"/>
          </a:solidFill>
          <a:ln w="12600">
            <a:solidFill>
              <a:srgbClr val="e07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320040" y="777240"/>
            <a:ext cx="3061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⚠️  </a:t>
            </a: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MENACES IDENTIFIÉES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5"/>
          <p:cNvSpPr/>
          <p:nvPr/>
        </p:nvSpPr>
        <p:spPr>
          <a:xfrm>
            <a:off x="384120" y="1298520"/>
            <a:ext cx="199800" cy="199800"/>
          </a:xfrm>
          <a:prstGeom prst="ellipse">
            <a:avLst/>
          </a:prstGeom>
          <a:solidFill>
            <a:srgbClr val="e07b39"/>
          </a:solidFill>
          <a:ln w="12600">
            <a:solidFill>
              <a:srgbClr val="e07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658440" y="126180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Interception des données réseau (sniffing)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7"/>
          <p:cNvSpPr/>
          <p:nvPr/>
        </p:nvSpPr>
        <p:spPr>
          <a:xfrm>
            <a:off x="384120" y="1847160"/>
            <a:ext cx="199800" cy="199800"/>
          </a:xfrm>
          <a:prstGeom prst="ellipse">
            <a:avLst/>
          </a:prstGeom>
          <a:solidFill>
            <a:srgbClr val="e07b39"/>
          </a:solidFill>
          <a:ln w="12600">
            <a:solidFill>
              <a:srgbClr val="e07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8"/>
          <p:cNvSpPr/>
          <p:nvPr/>
        </p:nvSpPr>
        <p:spPr>
          <a:xfrm>
            <a:off x="658440" y="181044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Accès non autorisé aux capteurs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9"/>
          <p:cNvSpPr/>
          <p:nvPr/>
        </p:nvSpPr>
        <p:spPr>
          <a:xfrm>
            <a:off x="384120" y="2395800"/>
            <a:ext cx="199800" cy="199800"/>
          </a:xfrm>
          <a:prstGeom prst="ellipse">
            <a:avLst/>
          </a:prstGeom>
          <a:solidFill>
            <a:srgbClr val="e07b39"/>
          </a:solidFill>
          <a:ln w="12600">
            <a:solidFill>
              <a:srgbClr val="e07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658440" y="235908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Attaques par déni de service (DoS)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1"/>
          <p:cNvSpPr/>
          <p:nvPr/>
        </p:nvSpPr>
        <p:spPr>
          <a:xfrm>
            <a:off x="384120" y="2944440"/>
            <a:ext cx="199800" cy="199800"/>
          </a:xfrm>
          <a:prstGeom prst="ellipse">
            <a:avLst/>
          </a:prstGeom>
          <a:solidFill>
            <a:srgbClr val="e07b39"/>
          </a:solidFill>
          <a:ln w="12600">
            <a:solidFill>
              <a:srgbClr val="e07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2"/>
          <p:cNvSpPr/>
          <p:nvPr/>
        </p:nvSpPr>
        <p:spPr>
          <a:xfrm>
            <a:off x="658440" y="290772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Firmware compromis des dispositifs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3"/>
          <p:cNvSpPr/>
          <p:nvPr/>
        </p:nvSpPr>
        <p:spPr>
          <a:xfrm>
            <a:off x="384120" y="3493080"/>
            <a:ext cx="199800" cy="199800"/>
          </a:xfrm>
          <a:prstGeom prst="ellipse">
            <a:avLst/>
          </a:prstGeom>
          <a:solidFill>
            <a:srgbClr val="e07b39"/>
          </a:solidFill>
          <a:ln w="12600">
            <a:solidFill>
              <a:srgbClr val="e07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4"/>
          <p:cNvSpPr/>
          <p:nvPr/>
        </p:nvSpPr>
        <p:spPr>
          <a:xfrm>
            <a:off x="658440" y="345636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Injection de fausses données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5"/>
          <p:cNvSpPr/>
          <p:nvPr/>
        </p:nvSpPr>
        <p:spPr>
          <a:xfrm>
            <a:off x="384120" y="4041720"/>
            <a:ext cx="199800" cy="199800"/>
          </a:xfrm>
          <a:prstGeom prst="ellipse">
            <a:avLst/>
          </a:prstGeom>
          <a:solidFill>
            <a:srgbClr val="e07b39"/>
          </a:solidFill>
          <a:ln w="12600">
            <a:solidFill>
              <a:srgbClr val="e07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6"/>
          <p:cNvSpPr/>
          <p:nvPr/>
        </p:nvSpPr>
        <p:spPr>
          <a:xfrm>
            <a:off x="658440" y="400500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c2b1e"/>
                </a:solidFill>
                <a:latin typeface="Calibri"/>
              </a:rPr>
              <a:t>Vol de credentials MQTT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7"/>
          <p:cNvSpPr/>
          <p:nvPr/>
        </p:nvSpPr>
        <p:spPr>
          <a:xfrm>
            <a:off x="3657600" y="777240"/>
            <a:ext cx="2513160" cy="182736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8"/>
          <p:cNvSpPr/>
          <p:nvPr/>
        </p:nvSpPr>
        <p:spPr>
          <a:xfrm>
            <a:off x="3657600" y="777240"/>
            <a:ext cx="2513160" cy="382680"/>
          </a:xfrm>
          <a:prstGeom prst="rect">
            <a:avLst/>
          </a:prstGeom>
          <a:solidFill>
            <a:srgbClr val="2e7d32"/>
          </a:solidFill>
          <a:ln w="126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19"/>
          <p:cNvSpPr/>
          <p:nvPr/>
        </p:nvSpPr>
        <p:spPr>
          <a:xfrm>
            <a:off x="3749040" y="777240"/>
            <a:ext cx="23760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🔐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Objets IoT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20"/>
          <p:cNvSpPr/>
          <p:nvPr/>
        </p:nvSpPr>
        <p:spPr>
          <a:xfrm>
            <a:off x="3749040" y="1216080"/>
            <a:ext cx="2376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1c2b1e"/>
                </a:solidFill>
                <a:latin typeface="Calibri"/>
              </a:rPr>
              <a:t>Authentification par certificat X.509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1"/>
          <p:cNvSpPr/>
          <p:nvPr/>
        </p:nvSpPr>
        <p:spPr>
          <a:xfrm>
            <a:off x="3749040" y="1673280"/>
            <a:ext cx="2376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1c2b1e"/>
                </a:solidFill>
                <a:latin typeface="Calibri"/>
              </a:rPr>
              <a:t>Mise à jour firmware OTA sécurisée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22"/>
          <p:cNvSpPr/>
          <p:nvPr/>
        </p:nvSpPr>
        <p:spPr>
          <a:xfrm>
            <a:off x="3749040" y="2130480"/>
            <a:ext cx="2376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1c2b1e"/>
                </a:solidFill>
                <a:latin typeface="Calibri"/>
              </a:rPr>
              <a:t>Secure Boot &amp; TPM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23"/>
          <p:cNvSpPr/>
          <p:nvPr/>
        </p:nvSpPr>
        <p:spPr>
          <a:xfrm>
            <a:off x="6355080" y="777240"/>
            <a:ext cx="2513160" cy="182736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4"/>
          <p:cNvSpPr/>
          <p:nvPr/>
        </p:nvSpPr>
        <p:spPr>
          <a:xfrm>
            <a:off x="6355080" y="777240"/>
            <a:ext cx="2513160" cy="38268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25"/>
          <p:cNvSpPr/>
          <p:nvPr/>
        </p:nvSpPr>
        <p:spPr>
          <a:xfrm>
            <a:off x="6446520" y="777240"/>
            <a:ext cx="23760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🔒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Réseau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6"/>
          <p:cNvSpPr/>
          <p:nvPr/>
        </p:nvSpPr>
        <p:spPr>
          <a:xfrm>
            <a:off x="6446520" y="1216080"/>
            <a:ext cx="2376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1c2b1e"/>
                </a:solidFill>
                <a:latin typeface="Calibri"/>
              </a:rPr>
              <a:t>Chiffrement TLS 1.3 sur MQTT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7"/>
          <p:cNvSpPr/>
          <p:nvPr/>
        </p:nvSpPr>
        <p:spPr>
          <a:xfrm>
            <a:off x="6446520" y="1673280"/>
            <a:ext cx="2376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1c2b1e"/>
                </a:solidFill>
                <a:latin typeface="Calibri"/>
              </a:rPr>
              <a:t>VPN entre gateway et cloud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28"/>
          <p:cNvSpPr/>
          <p:nvPr/>
        </p:nvSpPr>
        <p:spPr>
          <a:xfrm>
            <a:off x="6446520" y="2130480"/>
            <a:ext cx="2376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1c2b1e"/>
                </a:solidFill>
                <a:latin typeface="Calibri"/>
              </a:rPr>
              <a:t>Pare-feu &amp; segmentation réseau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9"/>
          <p:cNvSpPr/>
          <p:nvPr/>
        </p:nvSpPr>
        <p:spPr>
          <a:xfrm>
            <a:off x="3657600" y="2770560"/>
            <a:ext cx="2513160" cy="182736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30"/>
          <p:cNvSpPr/>
          <p:nvPr/>
        </p:nvSpPr>
        <p:spPr>
          <a:xfrm>
            <a:off x="3657600" y="2770560"/>
            <a:ext cx="2513160" cy="382680"/>
          </a:xfrm>
          <a:prstGeom prst="rect">
            <a:avLst/>
          </a:prstGeom>
          <a:solidFill>
            <a:srgbClr val="6a1b9a"/>
          </a:solidFill>
          <a:ln w="126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31"/>
          <p:cNvSpPr/>
          <p:nvPr/>
        </p:nvSpPr>
        <p:spPr>
          <a:xfrm>
            <a:off x="3749040" y="2770560"/>
            <a:ext cx="23760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🛡️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Données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2"/>
          <p:cNvSpPr/>
          <p:nvPr/>
        </p:nvSpPr>
        <p:spPr>
          <a:xfrm>
            <a:off x="3749040" y="3209400"/>
            <a:ext cx="2376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1c2b1e"/>
                </a:solidFill>
                <a:latin typeface="Calibri"/>
              </a:rPr>
              <a:t>Chiffrement AES-256 au repos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33"/>
          <p:cNvSpPr/>
          <p:nvPr/>
        </p:nvSpPr>
        <p:spPr>
          <a:xfrm>
            <a:off x="3749040" y="3666600"/>
            <a:ext cx="2376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1c2b1e"/>
                </a:solidFill>
                <a:latin typeface="Calibri"/>
              </a:rPr>
              <a:t>Hachage SHA-256 pour intégrité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34"/>
          <p:cNvSpPr/>
          <p:nvPr/>
        </p:nvSpPr>
        <p:spPr>
          <a:xfrm>
            <a:off x="3749040" y="4123800"/>
            <a:ext cx="2376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1c2b1e"/>
                </a:solidFill>
                <a:latin typeface="Calibri"/>
              </a:rPr>
              <a:t>Backup chiffré automatique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35"/>
          <p:cNvSpPr/>
          <p:nvPr/>
        </p:nvSpPr>
        <p:spPr>
          <a:xfrm>
            <a:off x="6355080" y="2770560"/>
            <a:ext cx="2513160" cy="182736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36"/>
          <p:cNvSpPr/>
          <p:nvPr/>
        </p:nvSpPr>
        <p:spPr>
          <a:xfrm>
            <a:off x="6355080" y="2770560"/>
            <a:ext cx="2513160" cy="382680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37"/>
          <p:cNvSpPr/>
          <p:nvPr/>
        </p:nvSpPr>
        <p:spPr>
          <a:xfrm>
            <a:off x="6446520" y="2770560"/>
            <a:ext cx="23760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👤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Utilisateurs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38"/>
          <p:cNvSpPr/>
          <p:nvPr/>
        </p:nvSpPr>
        <p:spPr>
          <a:xfrm>
            <a:off x="6446520" y="3209400"/>
            <a:ext cx="2376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1c2b1e"/>
                </a:solidFill>
                <a:latin typeface="Calibri"/>
              </a:rPr>
              <a:t>Authentification multi-facteurs (MFA)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9"/>
          <p:cNvSpPr/>
          <p:nvPr/>
        </p:nvSpPr>
        <p:spPr>
          <a:xfrm>
            <a:off x="6446520" y="3666600"/>
            <a:ext cx="2376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1c2b1e"/>
                </a:solidFill>
                <a:latin typeface="Calibri"/>
              </a:rPr>
              <a:t>RBAC : rôles éleveur/véto/admin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40"/>
          <p:cNvSpPr/>
          <p:nvPr/>
        </p:nvSpPr>
        <p:spPr>
          <a:xfrm>
            <a:off x="6446520" y="4123800"/>
            <a:ext cx="2376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2b1e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1c2b1e"/>
                </a:solidFill>
                <a:latin typeface="Calibri"/>
              </a:rPr>
              <a:t>Journaux d'audit et traçabilité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274320" y="91440"/>
            <a:ext cx="85939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a84b"/>
                </a:solidFill>
                <a:latin typeface="Calibri"/>
              </a:rPr>
              <a:t>SCHÉMA D'ARCHITECTURE GLOBALE DU SYSTÈME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1"/>
          <p:cNvSpPr/>
          <p:nvPr/>
        </p:nvSpPr>
        <p:spPr>
          <a:xfrm>
            <a:off x="137160" y="658440"/>
            <a:ext cx="8868240" cy="254520"/>
          </a:xfrm>
          <a:prstGeom prst="rect">
            <a:avLst/>
          </a:prstGeom>
          <a:solidFill>
            <a:srgbClr val="2e7d32">
              <a:alpha val="40000"/>
            </a:srgbClr>
          </a:solidFill>
          <a:ln w="126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182880" y="658440"/>
            <a:ext cx="8776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a5d6a7"/>
                </a:solidFill>
                <a:latin typeface="Calibri"/>
              </a:rPr>
              <a:t>TERRAIN / PORCHERIE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3"/>
          <p:cNvSpPr/>
          <p:nvPr/>
        </p:nvSpPr>
        <p:spPr>
          <a:xfrm>
            <a:off x="130320" y="969120"/>
            <a:ext cx="1187280" cy="958680"/>
          </a:xfrm>
          <a:prstGeom prst="rect">
            <a:avLst/>
          </a:prstGeom>
          <a:solidFill>
            <a:srgbClr val="2e7d32"/>
          </a:solidFill>
          <a:ln w="12600">
            <a:solidFill>
              <a:srgbClr val="4caf50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130320" y="987480"/>
            <a:ext cx="11872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oogle Sans Text;sans-serif"/>
              </a:rPr>
              <a:t>SHT31</a:t>
            </a:r>
            <a:r>
              <a:rPr b="0" lang="en-US" sz="1300" spc="-1" strike="noStrike">
                <a:solidFill>
                  <a:srgbClr val="ffffff"/>
                </a:solidFill>
                <a:latin typeface="Google Sans Text;sans-serif"/>
              </a:rPr>
              <a:t>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94320" y="1470960"/>
            <a:ext cx="118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Capteur Thermo-Hygromètre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6"/>
          <p:cNvSpPr/>
          <p:nvPr/>
        </p:nvSpPr>
        <p:spPr>
          <a:xfrm>
            <a:off x="688680" y="1929240"/>
            <a:ext cx="360" cy="255960"/>
          </a:xfrm>
          <a:prstGeom prst="line">
            <a:avLst/>
          </a:prstGeom>
          <a:ln w="1908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7"/>
          <p:cNvSpPr/>
          <p:nvPr/>
        </p:nvSpPr>
        <p:spPr>
          <a:xfrm>
            <a:off x="1420200" y="969120"/>
            <a:ext cx="1187280" cy="958680"/>
          </a:xfrm>
          <a:prstGeom prst="rect">
            <a:avLst/>
          </a:prstGeom>
          <a:solidFill>
            <a:srgbClr val="2e7d32"/>
          </a:solidFill>
          <a:ln w="12600">
            <a:solidFill>
              <a:srgbClr val="4caf50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1420200" y="987480"/>
            <a:ext cx="11872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MQ-137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1420200" y="1470960"/>
            <a:ext cx="118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Capteur NDIR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10"/>
          <p:cNvSpPr/>
          <p:nvPr/>
        </p:nvSpPr>
        <p:spPr>
          <a:xfrm>
            <a:off x="2050560" y="1929240"/>
            <a:ext cx="360" cy="255960"/>
          </a:xfrm>
          <a:prstGeom prst="line">
            <a:avLst/>
          </a:prstGeom>
          <a:ln w="1908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11"/>
          <p:cNvSpPr/>
          <p:nvPr/>
        </p:nvSpPr>
        <p:spPr>
          <a:xfrm>
            <a:off x="2710080" y="969120"/>
            <a:ext cx="1187280" cy="958680"/>
          </a:xfrm>
          <a:prstGeom prst="rect">
            <a:avLst/>
          </a:prstGeom>
          <a:solidFill>
            <a:srgbClr val="2e7d32"/>
          </a:solidFill>
          <a:ln w="12600">
            <a:solidFill>
              <a:srgbClr val="4caf50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2"/>
          <p:cNvSpPr/>
          <p:nvPr/>
        </p:nvSpPr>
        <p:spPr>
          <a:xfrm>
            <a:off x="2710080" y="987480"/>
            <a:ext cx="11872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MH-Z19B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3"/>
          <p:cNvSpPr/>
          <p:nvPr/>
        </p:nvSpPr>
        <p:spPr>
          <a:xfrm>
            <a:off x="2710080" y="1470960"/>
            <a:ext cx="118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Capteur de gaz électrochimique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14"/>
          <p:cNvSpPr/>
          <p:nvPr/>
        </p:nvSpPr>
        <p:spPr>
          <a:xfrm>
            <a:off x="3340440" y="1929240"/>
            <a:ext cx="360" cy="255960"/>
          </a:xfrm>
          <a:prstGeom prst="line">
            <a:avLst/>
          </a:prstGeom>
          <a:ln w="1908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15"/>
          <p:cNvSpPr/>
          <p:nvPr/>
        </p:nvSpPr>
        <p:spPr>
          <a:xfrm>
            <a:off x="3999960" y="969120"/>
            <a:ext cx="1187280" cy="958680"/>
          </a:xfrm>
          <a:prstGeom prst="rect">
            <a:avLst/>
          </a:prstGeom>
          <a:solidFill>
            <a:srgbClr val="2e7d32"/>
          </a:solidFill>
          <a:ln w="12600">
            <a:solidFill>
              <a:srgbClr val="4caf50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6"/>
          <p:cNvSpPr/>
          <p:nvPr/>
        </p:nvSpPr>
        <p:spPr>
          <a:xfrm>
            <a:off x="3999960" y="987480"/>
            <a:ext cx="11872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MLX90614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17"/>
          <p:cNvSpPr/>
          <p:nvPr/>
        </p:nvSpPr>
        <p:spPr>
          <a:xfrm>
            <a:off x="3999960" y="1470960"/>
            <a:ext cx="118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Capteur de température IR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18"/>
          <p:cNvSpPr/>
          <p:nvPr/>
        </p:nvSpPr>
        <p:spPr>
          <a:xfrm>
            <a:off x="4630320" y="1929240"/>
            <a:ext cx="360" cy="255960"/>
          </a:xfrm>
          <a:prstGeom prst="line">
            <a:avLst/>
          </a:prstGeom>
          <a:ln w="1908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19"/>
          <p:cNvSpPr/>
          <p:nvPr/>
        </p:nvSpPr>
        <p:spPr>
          <a:xfrm>
            <a:off x="5289840" y="969120"/>
            <a:ext cx="1187280" cy="958680"/>
          </a:xfrm>
          <a:prstGeom prst="rect">
            <a:avLst/>
          </a:prstGeom>
          <a:solidFill>
            <a:srgbClr val="2e7d32"/>
          </a:solidFill>
          <a:ln w="12600">
            <a:solidFill>
              <a:srgbClr val="4caf50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20"/>
          <p:cNvSpPr/>
          <p:nvPr/>
        </p:nvSpPr>
        <p:spPr>
          <a:xfrm>
            <a:off x="5289840" y="987480"/>
            <a:ext cx="11872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ADXL345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21"/>
          <p:cNvSpPr/>
          <p:nvPr/>
        </p:nvSpPr>
        <p:spPr>
          <a:xfrm>
            <a:off x="5289840" y="1434960"/>
            <a:ext cx="118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Accéléromètre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22"/>
          <p:cNvSpPr/>
          <p:nvPr/>
        </p:nvSpPr>
        <p:spPr>
          <a:xfrm>
            <a:off x="5920200" y="1929240"/>
            <a:ext cx="360" cy="255960"/>
          </a:xfrm>
          <a:prstGeom prst="line">
            <a:avLst/>
          </a:prstGeom>
          <a:ln w="1908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23"/>
          <p:cNvSpPr/>
          <p:nvPr/>
        </p:nvSpPr>
        <p:spPr>
          <a:xfrm>
            <a:off x="6579720" y="969120"/>
            <a:ext cx="1187280" cy="958680"/>
          </a:xfrm>
          <a:prstGeom prst="rect">
            <a:avLst/>
          </a:prstGeom>
          <a:solidFill>
            <a:srgbClr val="2e7d32"/>
          </a:solidFill>
          <a:ln w="12600">
            <a:solidFill>
              <a:srgbClr val="4caf50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4"/>
          <p:cNvSpPr/>
          <p:nvPr/>
        </p:nvSpPr>
        <p:spPr>
          <a:xfrm>
            <a:off x="6579720" y="987480"/>
            <a:ext cx="11872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HC-SR04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25"/>
          <p:cNvSpPr/>
          <p:nvPr/>
        </p:nvSpPr>
        <p:spPr>
          <a:xfrm>
            <a:off x="6579720" y="1470960"/>
            <a:ext cx="118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Capteur de niveau Ultrason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26"/>
          <p:cNvSpPr/>
          <p:nvPr/>
        </p:nvSpPr>
        <p:spPr>
          <a:xfrm>
            <a:off x="7210080" y="1929240"/>
            <a:ext cx="360" cy="255960"/>
          </a:xfrm>
          <a:prstGeom prst="line">
            <a:avLst/>
          </a:prstGeom>
          <a:ln w="1908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27"/>
          <p:cNvSpPr/>
          <p:nvPr/>
        </p:nvSpPr>
        <p:spPr>
          <a:xfrm>
            <a:off x="182880" y="2148840"/>
            <a:ext cx="8776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c8a84b"/>
                </a:solidFill>
                <a:latin typeface="Calibri"/>
              </a:rPr>
              <a:t>LoRaWAN / Zigbee / Wi-Fi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28"/>
          <p:cNvSpPr/>
          <p:nvPr/>
        </p:nvSpPr>
        <p:spPr>
          <a:xfrm>
            <a:off x="2743200" y="2377440"/>
            <a:ext cx="3656160" cy="684360"/>
          </a:xfrm>
          <a:prstGeom prst="rect">
            <a:avLst/>
          </a:prstGeom>
          <a:solidFill>
            <a:srgbClr val="1565c0"/>
          </a:solidFill>
          <a:ln w="12600">
            <a:solidFill>
              <a:srgbClr val="42a5f5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29"/>
          <p:cNvSpPr/>
          <p:nvPr/>
        </p:nvSpPr>
        <p:spPr>
          <a:xfrm>
            <a:off x="2743200" y="2377440"/>
            <a:ext cx="36561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🔗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GATEWAY (Raspberry Pi 4)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LoRa + Wi-Fi + Edge MQTT Broker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30"/>
          <p:cNvSpPr/>
          <p:nvPr/>
        </p:nvSpPr>
        <p:spPr>
          <a:xfrm>
            <a:off x="4572000" y="3063240"/>
            <a:ext cx="360" cy="255960"/>
          </a:xfrm>
          <a:prstGeom prst="line">
            <a:avLst/>
          </a:prstGeom>
          <a:ln w="1908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31"/>
          <p:cNvSpPr/>
          <p:nvPr/>
        </p:nvSpPr>
        <p:spPr>
          <a:xfrm>
            <a:off x="3657600" y="3310200"/>
            <a:ext cx="1827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c8a84b"/>
                </a:solidFill>
                <a:latin typeface="Calibri"/>
              </a:rPr>
              <a:t>MQTT over TLS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32"/>
          <p:cNvSpPr/>
          <p:nvPr/>
        </p:nvSpPr>
        <p:spPr>
          <a:xfrm>
            <a:off x="1828800" y="3520440"/>
            <a:ext cx="5484960" cy="684360"/>
          </a:xfrm>
          <a:prstGeom prst="rect">
            <a:avLst/>
          </a:prstGeom>
          <a:solidFill>
            <a:srgbClr val="00695c"/>
          </a:solidFill>
          <a:ln w="12600">
            <a:solidFill>
              <a:srgbClr val="26a69a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33"/>
          <p:cNvSpPr/>
          <p:nvPr/>
        </p:nvSpPr>
        <p:spPr>
          <a:xfrm>
            <a:off x="1828800" y="3520440"/>
            <a:ext cx="5484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☁️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SERVEUR CLOUD / LOCAL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API REST | SQLite/InfluxDB | Alertes Email/SMS | Traitement Python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34"/>
          <p:cNvSpPr/>
          <p:nvPr/>
        </p:nvSpPr>
        <p:spPr>
          <a:xfrm>
            <a:off x="4572000" y="4206240"/>
            <a:ext cx="360" cy="228600"/>
          </a:xfrm>
          <a:prstGeom prst="line">
            <a:avLst/>
          </a:prstGeom>
          <a:ln w="1908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35"/>
          <p:cNvSpPr/>
          <p:nvPr/>
        </p:nvSpPr>
        <p:spPr>
          <a:xfrm>
            <a:off x="1371600" y="4462200"/>
            <a:ext cx="6399360" cy="565560"/>
          </a:xfrm>
          <a:prstGeom prst="rect">
            <a:avLst/>
          </a:prstGeom>
          <a:solidFill>
            <a:srgbClr val="ad1457"/>
          </a:solidFill>
          <a:ln w="12600">
            <a:solidFill>
              <a:srgbClr val="f06292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36"/>
          <p:cNvSpPr/>
          <p:nvPr/>
        </p:nvSpPr>
        <p:spPr>
          <a:xfrm>
            <a:off x="1371600" y="4462200"/>
            <a:ext cx="63993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📊 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DASHBOARD WEB (Flask)  |  📱 Application Mobile  |  📋 Rapports PDF automatiques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56"/>
          <p:cNvSpPr/>
          <p:nvPr/>
        </p:nvSpPr>
        <p:spPr>
          <a:xfrm>
            <a:off x="7849080" y="959760"/>
            <a:ext cx="1187280" cy="958680"/>
          </a:xfrm>
          <a:prstGeom prst="rect">
            <a:avLst/>
          </a:prstGeom>
          <a:solidFill>
            <a:srgbClr val="2e7d32"/>
          </a:solidFill>
          <a:ln w="12600">
            <a:solidFill>
              <a:srgbClr val="4caf50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57"/>
          <p:cNvSpPr/>
          <p:nvPr/>
        </p:nvSpPr>
        <p:spPr>
          <a:xfrm>
            <a:off x="8470440" y="1929600"/>
            <a:ext cx="360" cy="255960"/>
          </a:xfrm>
          <a:prstGeom prst="line">
            <a:avLst/>
          </a:prstGeom>
          <a:ln w="1908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52"/>
          <p:cNvSpPr/>
          <p:nvPr/>
        </p:nvSpPr>
        <p:spPr>
          <a:xfrm>
            <a:off x="7839720" y="987480"/>
            <a:ext cx="11872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YF-S201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54"/>
          <p:cNvSpPr/>
          <p:nvPr/>
        </p:nvSpPr>
        <p:spPr>
          <a:xfrm>
            <a:off x="7839720" y="1470960"/>
            <a:ext cx="118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Débitmètre à effet Hall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5"/>
          <p:cNvSpPr/>
          <p:nvPr/>
        </p:nvSpPr>
        <p:spPr>
          <a:xfrm>
            <a:off x="0" y="0"/>
            <a:ext cx="9142560" cy="62640"/>
          </a:xfrm>
          <a:prstGeom prst="rect">
            <a:avLst/>
          </a:prstGeom>
          <a:solidFill>
            <a:srgbClr val="5a8f3c"/>
          </a:solidFill>
          <a:ln w="12600">
            <a:solidFill>
              <a:srgbClr val="5a8f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33"/>
          <p:cNvSpPr/>
          <p:nvPr/>
        </p:nvSpPr>
        <p:spPr>
          <a:xfrm>
            <a:off x="0" y="0"/>
            <a:ext cx="455760" cy="5142240"/>
          </a:xfrm>
          <a:prstGeom prst="rect">
            <a:avLst/>
          </a:prstGeom>
          <a:solidFill>
            <a:srgbClr val="2c5f2d"/>
          </a:solidFill>
          <a:ln w="126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49"/>
          <p:cNvSpPr/>
          <p:nvPr/>
        </p:nvSpPr>
        <p:spPr>
          <a:xfrm>
            <a:off x="6583680" y="3200400"/>
            <a:ext cx="163080" cy="163080"/>
          </a:xfrm>
          <a:prstGeom prst="ellipse">
            <a:avLst/>
          </a:prstGeom>
          <a:solidFill>
            <a:srgbClr val="c8a84b"/>
          </a:solidFill>
          <a:ln w="1260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50"/>
          <p:cNvSpPr/>
          <p:nvPr/>
        </p:nvSpPr>
        <p:spPr>
          <a:xfrm>
            <a:off x="7772400" y="2926080"/>
            <a:ext cx="163080" cy="163080"/>
          </a:xfrm>
          <a:prstGeom prst="ellipse">
            <a:avLst/>
          </a:prstGeom>
          <a:solidFill>
            <a:srgbClr val="c8a84b"/>
          </a:solidFill>
          <a:ln w="1260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51"/>
          <p:cNvSpPr/>
          <p:nvPr/>
        </p:nvSpPr>
        <p:spPr>
          <a:xfrm>
            <a:off x="8321040" y="3657600"/>
            <a:ext cx="163080" cy="163080"/>
          </a:xfrm>
          <a:prstGeom prst="ellipse">
            <a:avLst/>
          </a:prstGeom>
          <a:solidFill>
            <a:srgbClr val="c8a84b"/>
          </a:solidFill>
          <a:ln w="1260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52"/>
          <p:cNvSpPr/>
          <p:nvPr/>
        </p:nvSpPr>
        <p:spPr>
          <a:xfrm>
            <a:off x="7132320" y="3931920"/>
            <a:ext cx="163080" cy="163080"/>
          </a:xfrm>
          <a:prstGeom prst="ellipse">
            <a:avLst/>
          </a:prstGeom>
          <a:solidFill>
            <a:srgbClr val="c8a84b"/>
          </a:solidFill>
          <a:ln w="1260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53"/>
          <p:cNvSpPr/>
          <p:nvPr/>
        </p:nvSpPr>
        <p:spPr>
          <a:xfrm>
            <a:off x="6656760" y="3282480"/>
            <a:ext cx="1024200" cy="360"/>
          </a:xfrm>
          <a:prstGeom prst="line">
            <a:avLst/>
          </a:prstGeom>
          <a:ln w="12600">
            <a:solidFill>
              <a:srgbClr val="c8a84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54"/>
          <p:cNvSpPr/>
          <p:nvPr/>
        </p:nvSpPr>
        <p:spPr>
          <a:xfrm>
            <a:off x="7845480" y="3008160"/>
            <a:ext cx="411480" cy="567000"/>
          </a:xfrm>
          <a:prstGeom prst="line">
            <a:avLst/>
          </a:prstGeom>
          <a:ln w="12600">
            <a:solidFill>
              <a:srgbClr val="c8a84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51"/>
          <p:cNvSpPr/>
          <p:nvPr/>
        </p:nvSpPr>
        <p:spPr>
          <a:xfrm>
            <a:off x="2394360" y="1872000"/>
            <a:ext cx="548496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81d41a"/>
                </a:solidFill>
                <a:latin typeface="Calibri"/>
                <a:ea typeface="Noto Sans CJK SC"/>
              </a:rPr>
              <a:t>Démonstration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55"/>
          <p:cNvSpPr/>
          <p:nvPr/>
        </p:nvSpPr>
        <p:spPr>
          <a:xfrm>
            <a:off x="0" y="4754880"/>
            <a:ext cx="9142560" cy="387360"/>
          </a:xfrm>
          <a:prstGeom prst="rect">
            <a:avLst/>
          </a:prstGeom>
          <a:solidFill>
            <a:srgbClr val="2c5f2d"/>
          </a:solidFill>
          <a:ln w="126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53"/>
          <p:cNvSpPr/>
          <p:nvPr/>
        </p:nvSpPr>
        <p:spPr>
          <a:xfrm>
            <a:off x="594360" y="4754880"/>
            <a:ext cx="8228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Système de surveillance et gestion intelligente des porcs via technologies IoT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9142560" cy="62640"/>
          </a:xfrm>
          <a:prstGeom prst="rect">
            <a:avLst/>
          </a:prstGeom>
          <a:solidFill>
            <a:srgbClr val="c8a84b"/>
          </a:solidFill>
          <a:ln w="1260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1"/>
          <p:cNvSpPr/>
          <p:nvPr/>
        </p:nvSpPr>
        <p:spPr>
          <a:xfrm>
            <a:off x="457200" y="457200"/>
            <a:ext cx="82281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CONCLUSION &amp; PERSPECTIVES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2"/>
          <p:cNvSpPr/>
          <p:nvPr/>
        </p:nvSpPr>
        <p:spPr>
          <a:xfrm>
            <a:off x="274320" y="1417320"/>
            <a:ext cx="4159080" cy="958680"/>
          </a:xfrm>
          <a:prstGeom prst="rect">
            <a:avLst/>
          </a:prstGeom>
          <a:solidFill>
            <a:srgbClr val="2c5f2d"/>
          </a:solidFill>
          <a:ln w="12600">
            <a:solidFill>
              <a:srgbClr val="5a8f3c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274320" y="1417320"/>
            <a:ext cx="7758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4"/>
          <p:cNvSpPr/>
          <p:nvPr/>
        </p:nvSpPr>
        <p:spPr>
          <a:xfrm>
            <a:off x="1051560" y="1508760"/>
            <a:ext cx="3244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a84b"/>
                </a:solidFill>
                <a:latin typeface="Calibri"/>
              </a:rPr>
              <a:t>Surveillance temps réel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1051560" y="1874520"/>
            <a:ext cx="32446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5e1"/>
                </a:solidFill>
                <a:latin typeface="Calibri"/>
              </a:rPr>
              <a:t>6+ types de capteurs couvrant santé, environnement et alimentation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6"/>
          <p:cNvSpPr/>
          <p:nvPr/>
        </p:nvSpPr>
        <p:spPr>
          <a:xfrm>
            <a:off x="4709160" y="1417320"/>
            <a:ext cx="4159080" cy="958680"/>
          </a:xfrm>
          <a:prstGeom prst="rect">
            <a:avLst/>
          </a:prstGeom>
          <a:solidFill>
            <a:srgbClr val="2c5f2d"/>
          </a:solidFill>
          <a:ln w="12600">
            <a:solidFill>
              <a:srgbClr val="5a8f3c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7"/>
          <p:cNvSpPr/>
          <p:nvPr/>
        </p:nvSpPr>
        <p:spPr>
          <a:xfrm>
            <a:off x="4709160" y="1417320"/>
            <a:ext cx="7758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📡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8"/>
          <p:cNvSpPr/>
          <p:nvPr/>
        </p:nvSpPr>
        <p:spPr>
          <a:xfrm>
            <a:off x="5486400" y="1508760"/>
            <a:ext cx="3244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a84b"/>
                </a:solidFill>
                <a:latin typeface="Calibri"/>
              </a:rPr>
              <a:t>Réseau robuste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9"/>
          <p:cNvSpPr/>
          <p:nvPr/>
        </p:nvSpPr>
        <p:spPr>
          <a:xfrm>
            <a:off x="5486400" y="1874520"/>
            <a:ext cx="32446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5e1"/>
                </a:solidFill>
                <a:latin typeface="Calibri"/>
              </a:rPr>
              <a:t>LoRaWAN + Wi-Fi + Zigbee avec MQTT sécurisé TLS 1.3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10"/>
          <p:cNvSpPr/>
          <p:nvPr/>
        </p:nvSpPr>
        <p:spPr>
          <a:xfrm>
            <a:off x="274320" y="2514600"/>
            <a:ext cx="4159080" cy="958680"/>
          </a:xfrm>
          <a:prstGeom prst="rect">
            <a:avLst/>
          </a:prstGeom>
          <a:solidFill>
            <a:srgbClr val="2c5f2d"/>
          </a:solidFill>
          <a:ln w="12600">
            <a:solidFill>
              <a:srgbClr val="5a8f3c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11"/>
          <p:cNvSpPr/>
          <p:nvPr/>
        </p:nvSpPr>
        <p:spPr>
          <a:xfrm>
            <a:off x="274320" y="2514600"/>
            <a:ext cx="7758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12"/>
          <p:cNvSpPr/>
          <p:nvPr/>
        </p:nvSpPr>
        <p:spPr>
          <a:xfrm>
            <a:off x="1051560" y="2606040"/>
            <a:ext cx="3244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a84b"/>
                </a:solidFill>
                <a:latin typeface="Calibri"/>
              </a:rPr>
              <a:t>Analyse intelligente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13"/>
          <p:cNvSpPr/>
          <p:nvPr/>
        </p:nvSpPr>
        <p:spPr>
          <a:xfrm>
            <a:off x="1051560" y="2971800"/>
            <a:ext cx="32446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5e1"/>
                </a:solidFill>
                <a:latin typeface="Calibri"/>
              </a:rPr>
              <a:t>Détection d'anomalies, statistiques et alertes automatiques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14"/>
          <p:cNvSpPr/>
          <p:nvPr/>
        </p:nvSpPr>
        <p:spPr>
          <a:xfrm>
            <a:off x="4709160" y="2514600"/>
            <a:ext cx="4159080" cy="958680"/>
          </a:xfrm>
          <a:prstGeom prst="rect">
            <a:avLst/>
          </a:prstGeom>
          <a:solidFill>
            <a:srgbClr val="2c5f2d"/>
          </a:solidFill>
          <a:ln w="12600">
            <a:solidFill>
              <a:srgbClr val="5a8f3c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15"/>
          <p:cNvSpPr/>
          <p:nvPr/>
        </p:nvSpPr>
        <p:spPr>
          <a:xfrm>
            <a:off x="4709160" y="2514600"/>
            <a:ext cx="7758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🔐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16"/>
          <p:cNvSpPr/>
          <p:nvPr/>
        </p:nvSpPr>
        <p:spPr>
          <a:xfrm>
            <a:off x="5486400" y="2606040"/>
            <a:ext cx="3244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a84b"/>
                </a:solidFill>
                <a:latin typeface="Calibri"/>
              </a:rPr>
              <a:t>Sécurité multicouche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17"/>
          <p:cNvSpPr/>
          <p:nvPr/>
        </p:nvSpPr>
        <p:spPr>
          <a:xfrm>
            <a:off x="5486400" y="2971800"/>
            <a:ext cx="32446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f5e1"/>
                </a:solidFill>
                <a:latin typeface="Calibri"/>
              </a:rPr>
              <a:t>Authentification, chiffrement, RBAC et journaux d'audit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18"/>
          <p:cNvSpPr/>
          <p:nvPr/>
        </p:nvSpPr>
        <p:spPr>
          <a:xfrm>
            <a:off x="274320" y="3657600"/>
            <a:ext cx="8593920" cy="775800"/>
          </a:xfrm>
          <a:prstGeom prst="rect">
            <a:avLst/>
          </a:prstGeom>
          <a:solidFill>
            <a:srgbClr val="5a8f3c">
              <a:alpha val="80000"/>
            </a:srgbClr>
          </a:solidFill>
          <a:ln w="12600">
            <a:solidFill>
              <a:srgbClr val="5a8f3c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19"/>
          <p:cNvSpPr/>
          <p:nvPr/>
        </p:nvSpPr>
        <p:spPr>
          <a:xfrm>
            <a:off x="365760" y="3657600"/>
            <a:ext cx="84110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🎯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Impact attendu : Réduction  de la mortalité · Surveillance en temps reelle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0"/>
          <p:cNvSpPr/>
          <p:nvPr/>
        </p:nvSpPr>
        <p:spPr>
          <a:xfrm>
            <a:off x="274320" y="4572000"/>
            <a:ext cx="85939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c8a84b"/>
                </a:solidFill>
                <a:latin typeface="Calibri"/>
              </a:rPr>
              <a:t>Merci pour votre attention !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21"/>
          <p:cNvSpPr/>
          <p:nvPr/>
        </p:nvSpPr>
        <p:spPr>
          <a:xfrm>
            <a:off x="0" y="5074920"/>
            <a:ext cx="9142560" cy="62640"/>
          </a:xfrm>
          <a:prstGeom prst="rect">
            <a:avLst/>
          </a:prstGeom>
          <a:solidFill>
            <a:srgbClr val="c8a84b"/>
          </a:solidFill>
          <a:ln w="1260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2026-04-02T05:53:53Z</dcterms:created>
  <dc:creator>Étudiant M2 IoT</dc:creator>
  <dc:description/>
  <dc:language>fr-FR</dc:language>
  <cp:lastModifiedBy/>
  <cp:lastPrinted>2026-04-08T10:09:46Z</cp:lastPrinted>
  <dcterms:modified xsi:type="dcterms:W3CDTF">2026-04-10T00:04:48Z</dcterms:modified>
  <cp:revision>16</cp:revision>
  <dc:subject>PptxGenJS Presentation</dc:subject>
  <dc:title>Élevage Porcin Moderne - Solution IoT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